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9" r:id="rId5"/>
    <p:sldId id="267" r:id="rId6"/>
    <p:sldId id="262" r:id="rId7"/>
    <p:sldId id="268" r:id="rId8"/>
    <p:sldId id="263" r:id="rId9"/>
    <p:sldId id="270" r:id="rId10"/>
    <p:sldId id="265" r:id="rId1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77"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1" d="100"/>
          <a:sy n="81" d="100"/>
        </p:scale>
        <p:origin x="725" y="53"/>
      </p:cViewPr>
      <p:guideLst>
        <p:guide orient="horz" pos="2877"/>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000" b="0" i="0">
                <a:solidFill>
                  <a:schemeClr val="bg1"/>
                </a:solidFill>
                <a:latin typeface="Arial MT"/>
                <a:cs typeface="Arial MT"/>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000047"/>
                </a:solidFill>
                <a:latin typeface="Arial MT"/>
                <a:cs typeface="Arial MT"/>
              </a:defRPr>
            </a:lvl1pPr>
          </a:lstStyle>
          <a:p/>
        </p:txBody>
      </p:sp>
      <p:sp>
        <p:nvSpPr>
          <p:cNvPr id="4" name="Holder 4"/>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MT"/>
                <a:cs typeface="Arial MT"/>
              </a:defRPr>
            </a:lvl1pPr>
          </a:lstStyle>
          <a:p/>
        </p:txBody>
      </p:sp>
      <p:sp>
        <p:nvSpPr>
          <p:cNvPr id="3" name="Holder 3"/>
          <p:cNvSpPr>
            <a:spLocks noGrp="1"/>
          </p:cNvSpPr>
          <p:nvPr>
            <p:ph type="body" idx="1"/>
          </p:nvPr>
        </p:nvSpPr>
        <p:spPr/>
        <p:txBody>
          <a:bodyPr lIns="0" tIns="0" rIns="0" bIns="0"/>
          <a:lstStyle>
            <a:lvl1pPr>
              <a:defRPr sz="2400" b="0" i="0">
                <a:solidFill>
                  <a:srgbClr val="000047"/>
                </a:solidFill>
                <a:latin typeface="Arial MT"/>
                <a:cs typeface="Arial MT"/>
              </a:defRPr>
            </a:lvl1pPr>
          </a:lstStyle>
          <a:p/>
        </p:txBody>
      </p:sp>
      <p:sp>
        <p:nvSpPr>
          <p:cNvPr id="4" name="Holder 4"/>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MT"/>
                <a:cs typeface="Arial MT"/>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0591673" y="6454063"/>
            <a:ext cx="1170431" cy="205447"/>
          </a:xfrm>
          <a:prstGeom prst="rect">
            <a:avLst/>
          </a:prstGeom>
        </p:spPr>
      </p:pic>
      <p:pic>
        <p:nvPicPr>
          <p:cNvPr id="17" name="bg object 17"/>
          <p:cNvPicPr/>
          <p:nvPr/>
        </p:nvPicPr>
        <p:blipFill>
          <a:blip r:embed="rId3" cstate="print"/>
          <a:stretch>
            <a:fillRect/>
          </a:stretch>
        </p:blipFill>
        <p:spPr>
          <a:xfrm>
            <a:off x="0" y="-2"/>
            <a:ext cx="12188951" cy="6858000"/>
          </a:xfrm>
          <a:prstGeom prst="rect">
            <a:avLst/>
          </a:prstGeom>
        </p:spPr>
      </p:pic>
      <p:sp>
        <p:nvSpPr>
          <p:cNvPr id="2" name="Holder 2"/>
          <p:cNvSpPr>
            <a:spLocks noGrp="1"/>
          </p:cNvSpPr>
          <p:nvPr>
            <p:ph type="title"/>
          </p:nvPr>
        </p:nvSpPr>
        <p:spPr/>
        <p:txBody>
          <a:bodyPr lIns="0" tIns="0" rIns="0" bIns="0"/>
          <a:lstStyle>
            <a:lvl1pPr>
              <a:defRPr sz="4000" b="0" i="0">
                <a:solidFill>
                  <a:schemeClr val="bg1"/>
                </a:solidFill>
                <a:latin typeface="Arial MT"/>
                <a:cs typeface="Arial MT"/>
              </a:defRPr>
            </a:lvl1pPr>
          </a:lstStyle>
          <a:p/>
        </p:txBody>
      </p:sp>
      <p:sp>
        <p:nvSpPr>
          <p:cNvPr id="3" name="Holder 3"/>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fld>
            <a:endParaRPr lang="en-US"/>
          </a:p>
        </p:txBody>
      </p:sp>
      <p:sp>
        <p:nvSpPr>
          <p:cNvPr id="5" name="Footer Placeholder 4"/>
          <p:cNvSpPr>
            <a:spLocks noGrp="1"/>
          </p:cNvSpPr>
          <p:nvPr>
            <p:ph type="ftr" sz="quarter" idx="11"/>
          </p:nvPr>
        </p:nvSpPr>
        <p:spPr/>
        <p:txBody>
          <a:body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
        <p:nvSpPr>
          <p:cNvPr id="6" name="Slide Number Placeholder 5"/>
          <p:cNvSpPr>
            <a:spLocks noGrp="1"/>
          </p:cNvSpPr>
          <p:nvPr>
            <p:ph type="sldNum" sz="quarter" idx="12"/>
          </p:nvPr>
        </p:nvSpPr>
        <p:spPr/>
        <p:txBody>
          <a:body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1.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591673" y="6454063"/>
            <a:ext cx="1170431" cy="205447"/>
          </a:xfrm>
          <a:prstGeom prst="rect">
            <a:avLst/>
          </a:prstGeom>
        </p:spPr>
      </p:pic>
      <p:sp>
        <p:nvSpPr>
          <p:cNvPr id="2" name="Holder 2"/>
          <p:cNvSpPr>
            <a:spLocks noGrp="1"/>
          </p:cNvSpPr>
          <p:nvPr>
            <p:ph type="title"/>
          </p:nvPr>
        </p:nvSpPr>
        <p:spPr>
          <a:xfrm>
            <a:off x="830681" y="220802"/>
            <a:ext cx="9289415" cy="966342"/>
          </a:xfrm>
          <a:prstGeom prst="rect">
            <a:avLst/>
          </a:prstGeom>
        </p:spPr>
        <p:txBody>
          <a:bodyPr wrap="square" lIns="0" tIns="0" rIns="0" bIns="0">
            <a:spAutoFit/>
          </a:bodyPr>
          <a:lstStyle>
            <a:lvl1pPr>
              <a:defRPr sz="4000" b="0" i="0">
                <a:solidFill>
                  <a:schemeClr val="bg1"/>
                </a:solidFill>
                <a:latin typeface="Arial MT"/>
                <a:cs typeface="Arial MT"/>
              </a:defRPr>
            </a:lvl1pPr>
          </a:lstStyle>
          <a:p/>
        </p:txBody>
      </p:sp>
      <p:sp>
        <p:nvSpPr>
          <p:cNvPr id="3" name="Holder 3"/>
          <p:cNvSpPr>
            <a:spLocks noGrp="1"/>
          </p:cNvSpPr>
          <p:nvPr>
            <p:ph type="body" idx="1"/>
          </p:nvPr>
        </p:nvSpPr>
        <p:spPr>
          <a:xfrm>
            <a:off x="1320419" y="1304671"/>
            <a:ext cx="9819640" cy="3927475"/>
          </a:xfrm>
          <a:prstGeom prst="rect">
            <a:avLst/>
          </a:prstGeom>
        </p:spPr>
        <p:txBody>
          <a:bodyPr wrap="square" lIns="0" tIns="0" rIns="0" bIns="0">
            <a:spAutoFit/>
          </a:bodyPr>
          <a:lstStyle>
            <a:lvl1pPr>
              <a:defRPr sz="2400" b="0" i="0">
                <a:solidFill>
                  <a:srgbClr val="000047"/>
                </a:solidFill>
                <a:latin typeface="Arial MT"/>
                <a:cs typeface="Arial MT"/>
              </a:defRPr>
            </a:lvl1pPr>
          </a:lstStyle>
          <a:p/>
        </p:txBody>
      </p:sp>
      <p:sp>
        <p:nvSpPr>
          <p:cNvPr id="4" name="Holder 4"/>
          <p:cNvSpPr>
            <a:spLocks noGrp="1"/>
          </p:cNvSpPr>
          <p:nvPr>
            <p:ph type="ftr" sz="quarter" idx="5"/>
          </p:nvPr>
        </p:nvSpPr>
        <p:spPr>
          <a:xfrm>
            <a:off x="993139" y="6441888"/>
            <a:ext cx="1423670" cy="139700"/>
          </a:xfrm>
          <a:prstGeom prst="rect">
            <a:avLst/>
          </a:prstGeom>
        </p:spPr>
        <p:txBody>
          <a:bodyPr wrap="square" lIns="0" tIns="0" rIns="0" bIns="0">
            <a:spAutoFit/>
          </a:bodyPr>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419100" y="6457128"/>
            <a:ext cx="148590" cy="185419"/>
          </a:xfrm>
          <a:prstGeom prst="rect">
            <a:avLst/>
          </a:prstGeom>
        </p:spPr>
        <p:txBody>
          <a:bodyPr wrap="square" lIns="0" tIns="0" rIns="0" bIns="0">
            <a:spAutoFit/>
          </a:bodyPr>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2074" y="-2"/>
            <a:ext cx="12189967" cy="6857998"/>
          </a:xfrm>
          <a:prstGeom prst="rect">
            <a:avLst/>
          </a:prstGeom>
        </p:spPr>
      </p:pic>
      <p:sp>
        <p:nvSpPr>
          <p:cNvPr id="3" name="object 3"/>
          <p:cNvSpPr txBox="1"/>
          <p:nvPr/>
        </p:nvSpPr>
        <p:spPr>
          <a:xfrm>
            <a:off x="444500" y="6457128"/>
            <a:ext cx="74930" cy="124460"/>
          </a:xfrm>
          <a:prstGeom prst="rect">
            <a:avLst/>
          </a:prstGeom>
        </p:spPr>
        <p:txBody>
          <a:bodyPr vert="horz" wrap="square" lIns="0" tIns="3810" rIns="0" bIns="0" rtlCol="0">
            <a:spAutoFit/>
          </a:bodyPr>
          <a:lstStyle/>
          <a:p>
            <a:pPr marL="12700">
              <a:lnSpc>
                <a:spcPct val="100000"/>
              </a:lnSpc>
              <a:spcBef>
                <a:spcPts val="30"/>
              </a:spcBef>
            </a:pPr>
            <a:r>
              <a:rPr sz="700" spc="-50" dirty="0">
                <a:solidFill>
                  <a:srgbClr val="000047"/>
                </a:solidFill>
                <a:latin typeface="Arial MT"/>
                <a:cs typeface="Arial MT"/>
              </a:rPr>
              <a:t>1</a:t>
            </a:r>
            <a:endParaRPr sz="700">
              <a:latin typeface="Arial MT"/>
              <a:cs typeface="Arial MT"/>
            </a:endParaRPr>
          </a:p>
        </p:txBody>
      </p:sp>
      <p:sp>
        <p:nvSpPr>
          <p:cNvPr id="4" name="object 4"/>
          <p:cNvSpPr txBox="1"/>
          <p:nvPr/>
        </p:nvSpPr>
        <p:spPr>
          <a:xfrm>
            <a:off x="993139" y="6457128"/>
            <a:ext cx="1332230" cy="124460"/>
          </a:xfrm>
          <a:prstGeom prst="rect">
            <a:avLst/>
          </a:prstGeom>
        </p:spPr>
        <p:txBody>
          <a:bodyPr vert="horz" wrap="square" lIns="0" tIns="3810" rIns="0" bIns="0" rtlCol="0">
            <a:spAutoFit/>
          </a:bodyPr>
          <a:lstStyle/>
          <a:p>
            <a:pPr marL="12700">
              <a:lnSpc>
                <a:spcPct val="100000"/>
              </a:lnSpc>
              <a:spcBef>
                <a:spcPts val="30"/>
              </a:spcBef>
            </a:pPr>
            <a:r>
              <a:rPr sz="700" dirty="0">
                <a:solidFill>
                  <a:srgbClr val="000047"/>
                </a:solidFill>
                <a:latin typeface="Arial MT"/>
                <a:cs typeface="Arial MT"/>
              </a:rPr>
              <a:t>©</a:t>
            </a:r>
            <a:r>
              <a:rPr sz="700" spc="-35" dirty="0">
                <a:solidFill>
                  <a:srgbClr val="000047"/>
                </a:solidFill>
                <a:latin typeface="Arial MT"/>
                <a:cs typeface="Arial MT"/>
              </a:rPr>
              <a:t> </a:t>
            </a:r>
            <a:r>
              <a:rPr sz="700" dirty="0">
                <a:solidFill>
                  <a:srgbClr val="000047"/>
                </a:solidFill>
                <a:latin typeface="Arial MT"/>
                <a:cs typeface="Arial MT"/>
              </a:rPr>
              <a:t>2025–2027 Cognizant</a:t>
            </a:r>
            <a:r>
              <a:rPr sz="700" spc="-10" dirty="0">
                <a:solidFill>
                  <a:srgbClr val="000047"/>
                </a:solidFill>
                <a:latin typeface="Arial MT"/>
                <a:cs typeface="Arial MT"/>
              </a:rPr>
              <a:t> </a:t>
            </a:r>
            <a:r>
              <a:rPr sz="700" dirty="0">
                <a:solidFill>
                  <a:srgbClr val="000047"/>
                </a:solidFill>
                <a:latin typeface="Arial MT"/>
                <a:cs typeface="Arial MT"/>
              </a:rPr>
              <a:t>|</a:t>
            </a:r>
            <a:r>
              <a:rPr sz="700" spc="-30" dirty="0">
                <a:solidFill>
                  <a:srgbClr val="000047"/>
                </a:solidFill>
                <a:latin typeface="Arial MT"/>
                <a:cs typeface="Arial MT"/>
              </a:rPr>
              <a:t> </a:t>
            </a:r>
            <a:r>
              <a:rPr sz="700" spc="-10" dirty="0">
                <a:solidFill>
                  <a:srgbClr val="000047"/>
                </a:solidFill>
                <a:latin typeface="Arial MT"/>
                <a:cs typeface="Arial MT"/>
              </a:rPr>
              <a:t>Private</a:t>
            </a:r>
            <a:endParaRPr sz="70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2746" y="2361945"/>
            <a:ext cx="5993130" cy="2166620"/>
          </a:xfrm>
          <a:prstGeom prst="rect">
            <a:avLst/>
          </a:prstGeom>
        </p:spPr>
        <p:txBody>
          <a:bodyPr vert="horz" wrap="square" lIns="0" tIns="12700" rIns="0" bIns="0" rtlCol="0">
            <a:spAutoFit/>
          </a:bodyPr>
          <a:lstStyle/>
          <a:p>
            <a:pPr marL="12700">
              <a:lnSpc>
                <a:spcPct val="100000"/>
              </a:lnSpc>
              <a:spcBef>
                <a:spcPts val="100"/>
              </a:spcBef>
            </a:pPr>
            <a:r>
              <a:rPr lang="en-US" sz="2800">
                <a:latin typeface="Times New Roman" panose="02020603050405020304" charset="0"/>
                <a:cs typeface="Times New Roman" panose="02020603050405020304" charset="0"/>
              </a:rPr>
              <a:t>Team Members:</a:t>
            </a:r>
            <a:br>
              <a:rPr lang="en-US" sz="2800">
                <a:latin typeface="Times New Roman" panose="02020603050405020304" charset="0"/>
                <a:cs typeface="Times New Roman" panose="02020603050405020304" charset="0"/>
              </a:rPr>
            </a:br>
            <a:r>
              <a:rPr lang="en-US" sz="2800">
                <a:latin typeface="Times New Roman" panose="02020603050405020304" charset="0"/>
                <a:cs typeface="Times New Roman" panose="02020603050405020304" charset="0"/>
              </a:rPr>
              <a:t>	A.Sachin Kumar</a:t>
            </a:r>
            <a:br>
              <a:rPr lang="en-US" sz="2800">
                <a:latin typeface="Times New Roman" panose="02020603050405020304" charset="0"/>
                <a:cs typeface="Times New Roman" panose="02020603050405020304" charset="0"/>
              </a:rPr>
            </a:br>
            <a:r>
              <a:rPr lang="en-US" sz="2800">
                <a:latin typeface="Times New Roman" panose="02020603050405020304" charset="0"/>
                <a:cs typeface="Times New Roman" panose="02020603050405020304" charset="0"/>
              </a:rPr>
              <a:t>	R.Srinivas</a:t>
            </a:r>
            <a:br>
              <a:rPr lang="en-US" sz="2800">
                <a:latin typeface="Times New Roman" panose="02020603050405020304" charset="0"/>
                <a:cs typeface="Times New Roman" panose="02020603050405020304" charset="0"/>
              </a:rPr>
            </a:br>
            <a:r>
              <a:rPr lang="en-US" sz="2800">
                <a:latin typeface="Times New Roman" panose="02020603050405020304" charset="0"/>
                <a:cs typeface="Times New Roman" panose="02020603050405020304" charset="0"/>
              </a:rPr>
              <a:t>	V.S.Sowmiyaa</a:t>
            </a:r>
            <a:br>
              <a:rPr lang="en-US" sz="2800">
                <a:latin typeface="Times New Roman" panose="02020603050405020304" charset="0"/>
                <a:cs typeface="Times New Roman" panose="02020603050405020304" charset="0"/>
              </a:rPr>
            </a:br>
            <a:r>
              <a:rPr lang="en-US" sz="2800">
                <a:latin typeface="Times New Roman" panose="02020603050405020304" charset="0"/>
                <a:cs typeface="Times New Roman" panose="02020603050405020304" charset="0"/>
              </a:rPr>
              <a:t>	V.Thanuja</a:t>
            </a:r>
            <a:endParaRPr lang="en-US" sz="2800">
              <a:latin typeface="Times New Roman" panose="02020603050405020304" charset="0"/>
              <a:cs typeface="Times New Roman" panose="02020603050405020304" charset="0"/>
            </a:endParaRPr>
          </a:p>
        </p:txBody>
      </p:sp>
      <p:sp>
        <p:nvSpPr>
          <p:cNvPr id="3" name="object 3"/>
          <p:cNvSpPr txBox="1">
            <a:spLocks noGrp="1"/>
          </p:cNvSpPr>
          <p:nvPr>
            <p:ph type="sldNum" sz="quarter" idx="7"/>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
        <p:nvSpPr>
          <p:cNvPr id="4" name="object 4"/>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dirty="0">
                <a:solidFill>
                  <a:srgbClr val="FFFFFF"/>
                </a:solidFill>
              </a:rPr>
              <a:t>©</a:t>
            </a:r>
            <a:r>
              <a:rPr spc="-25" dirty="0">
                <a:solidFill>
                  <a:srgbClr val="FFFFFF"/>
                </a:solidFill>
              </a:rPr>
              <a:t> </a:t>
            </a:r>
            <a:r>
              <a:rPr spc="-10" dirty="0">
                <a:solidFill>
                  <a:srgbClr val="FFFFFF"/>
                </a:solidFill>
              </a:rPr>
              <a:t>2026-</a:t>
            </a:r>
            <a:r>
              <a:rPr dirty="0">
                <a:solidFill>
                  <a:srgbClr val="FFFFFF"/>
                </a:solidFill>
              </a:rPr>
              <a:t>2027</a:t>
            </a:r>
            <a:r>
              <a:rPr spc="15" dirty="0">
                <a:solidFill>
                  <a:srgbClr val="FFFFFF"/>
                </a:solidFill>
              </a:rPr>
              <a:t> </a:t>
            </a:r>
            <a:r>
              <a:rPr dirty="0">
                <a:solidFill>
                  <a:srgbClr val="FFFFFF"/>
                </a:solidFill>
              </a:rPr>
              <a:t>Cognizant |</a:t>
            </a:r>
            <a:r>
              <a:rPr spc="-5" dirty="0">
                <a:solidFill>
                  <a:srgbClr val="FFFFFF"/>
                </a:solidFill>
              </a:rPr>
              <a:t> </a:t>
            </a:r>
            <a:r>
              <a:rPr spc="-10" dirty="0">
                <a:solidFill>
                  <a:srgbClr val="FFFFFF"/>
                </a:solidFill>
              </a:rPr>
              <a:t>Private</a:t>
            </a:r>
            <a:endParaRPr spc="-10" dirty="0">
              <a:solidFill>
                <a:srgbClr val="FFFFFF"/>
              </a:solidFill>
            </a:endParaRPr>
          </a:p>
        </p:txBody>
      </p:sp>
      <p:sp>
        <p:nvSpPr>
          <p:cNvPr id="7" name="Text Box 6"/>
          <p:cNvSpPr txBox="1"/>
          <p:nvPr/>
        </p:nvSpPr>
        <p:spPr>
          <a:xfrm>
            <a:off x="1066800" y="1828800"/>
            <a:ext cx="4064000" cy="521970"/>
          </a:xfrm>
          <a:prstGeom prst="rect">
            <a:avLst/>
          </a:prstGeom>
          <a:noFill/>
        </p:spPr>
        <p:txBody>
          <a:bodyPr wrap="square" rtlCol="0">
            <a:spAutoFit/>
          </a:bodyPr>
          <a:p>
            <a:r>
              <a:rPr lang="en-US" sz="2800">
                <a:solidFill>
                  <a:schemeClr val="bg1"/>
                </a:solidFill>
                <a:latin typeface="Times New Roman" panose="02020603050405020304" charset="0"/>
                <a:cs typeface="Times New Roman" panose="02020603050405020304" charset="0"/>
              </a:rPr>
              <a:t>Team Name: SFINIVAS</a:t>
            </a:r>
            <a:endParaRPr lang="en-US" sz="280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118412" y="368553"/>
            <a:ext cx="4373245" cy="381635"/>
          </a:xfrm>
          <a:prstGeom prst="rect">
            <a:avLst/>
          </a:prstGeom>
        </p:spPr>
        <p:txBody>
          <a:bodyPr vert="horz" wrap="square" lIns="0" tIns="12700" rIns="0" bIns="0" rtlCol="0">
            <a:spAutoFit/>
          </a:bodyPr>
          <a:lstStyle/>
          <a:p>
            <a:pPr marL="12700">
              <a:lnSpc>
                <a:spcPct val="100000"/>
              </a:lnSpc>
              <a:spcBef>
                <a:spcPts val="100"/>
              </a:spcBef>
            </a:pPr>
            <a:r>
              <a:rPr lang="en-US" altLang="en-US" sz="2400" b="1" dirty="0">
                <a:solidFill>
                  <a:srgbClr val="000047"/>
                </a:solidFill>
                <a:latin typeface="Arial" panose="020B0604020202020204"/>
                <a:cs typeface="Arial" panose="020B0604020202020204"/>
              </a:rPr>
              <a:t>Problem Statement</a:t>
            </a:r>
            <a:endParaRPr lang="en-US" altLang="en-US" sz="2400">
              <a:latin typeface="Arial" panose="020B0604020202020204"/>
              <a:cs typeface="Arial" panose="020B0604020202020204"/>
            </a:endParaRPr>
          </a:p>
        </p:txBody>
      </p:sp>
      <p:pic>
        <p:nvPicPr>
          <p:cNvPr id="16" name="object 16"/>
          <p:cNvPicPr/>
          <p:nvPr/>
        </p:nvPicPr>
        <p:blipFill>
          <a:blip r:embed="rId1" cstate="print"/>
          <a:stretch>
            <a:fillRect/>
          </a:stretch>
        </p:blipFill>
        <p:spPr>
          <a:xfrm>
            <a:off x="451675" y="285673"/>
            <a:ext cx="543890" cy="552526"/>
          </a:xfrm>
          <a:prstGeom prst="rect">
            <a:avLst/>
          </a:prstGeom>
        </p:spPr>
      </p:pic>
      <p:sp>
        <p:nvSpPr>
          <p:cNvPr id="17" name="object 17"/>
          <p:cNvSpPr txBox="1">
            <a:spLocks noGrp="1"/>
          </p:cNvSpPr>
          <p:nvPr>
            <p:ph type="ftr" sz="quarter" idx="5"/>
          </p:nvPr>
        </p:nvSpPr>
        <p:spPr>
          <a:prstGeom prst="rect">
            <a:avLst/>
          </a:prstGeom>
        </p:spPr>
        <p:txBody>
          <a:bodyPr vert="horz" wrap="square" lIns="0" tIns="3810" rIns="0" bIns="0" rtlCol="0">
            <a:spAutoFit/>
          </a:bodyPr>
          <a:lstStyle/>
          <a:p>
            <a:pPr marL="104140">
              <a:lnSpc>
                <a:spcPct val="100000"/>
              </a:lnSpc>
              <a:spcBef>
                <a:spcPts val="30"/>
              </a:spcBef>
            </a:pPr>
            <a:r>
              <a:rPr dirty="0"/>
              <a:t>©</a:t>
            </a:r>
            <a:r>
              <a:rPr spc="-35" dirty="0"/>
              <a:t> </a:t>
            </a:r>
            <a:r>
              <a:rPr dirty="0"/>
              <a:t>2026–2027 Cognizant</a:t>
            </a:r>
            <a:r>
              <a:rPr spc="-10" dirty="0"/>
              <a:t> </a:t>
            </a:r>
            <a:r>
              <a:rPr dirty="0"/>
              <a:t>|</a:t>
            </a:r>
            <a:r>
              <a:rPr spc="-30" dirty="0"/>
              <a:t> </a:t>
            </a:r>
            <a:r>
              <a:rPr spc="-10" dirty="0"/>
              <a:t>Private</a:t>
            </a:r>
            <a:endParaRPr spc="-10" dirty="0"/>
          </a:p>
        </p:txBody>
      </p:sp>
      <p:sp>
        <p:nvSpPr>
          <p:cNvPr id="18" name="object 18"/>
          <p:cNvSpPr txBox="1">
            <a:spLocks noGrp="1"/>
          </p:cNvSpPr>
          <p:nvPr>
            <p:ph type="sldNum" sz="quarter" idx="7"/>
          </p:nvPr>
        </p:nvSpPr>
        <p:spPr>
          <a:prstGeom prst="rect">
            <a:avLst/>
          </a:prstGeom>
        </p:spPr>
        <p:txBody>
          <a:bodyPr vert="horz" wrap="square" lIns="0" tIns="64769" rIns="0" bIns="0" rtlCol="0">
            <a:spAutoFit/>
          </a:bodyPr>
          <a:lstStyle/>
          <a:p>
            <a:pPr marL="38100">
              <a:lnSpc>
                <a:spcPct val="100000"/>
              </a:lnSpc>
              <a:spcBef>
                <a:spcPts val="30"/>
              </a:spcBef>
            </a:pPr>
            <a:fld id="{81D60167-4931-47E6-BA6A-407CBD079E47}" type="slidenum">
              <a:rPr spc="-50" dirty="0"/>
            </a:fld>
            <a:endParaRPr spc="-50" dirty="0"/>
          </a:p>
        </p:txBody>
      </p:sp>
      <p:sp>
        <p:nvSpPr>
          <p:cNvPr id="19" name="Text Box 18"/>
          <p:cNvSpPr txBox="1"/>
          <p:nvPr/>
        </p:nvSpPr>
        <p:spPr>
          <a:xfrm>
            <a:off x="450850" y="1025525"/>
            <a:ext cx="11049635" cy="5179695"/>
          </a:xfrm>
          <a:prstGeom prst="rect">
            <a:avLst/>
          </a:prstGeom>
          <a:noFill/>
        </p:spPr>
        <p:txBody>
          <a:bodyPr wrap="square" rtlCol="0" anchor="t">
            <a:noAutofit/>
          </a:bodyPr>
          <a:lstStyle/>
          <a:p>
            <a:pPr>
              <a:lnSpc>
                <a:spcPct val="130000"/>
              </a:lnSpc>
            </a:pPr>
            <a:r>
              <a:rPr lang="en-US" altLang="en-US" sz="1800">
                <a:latin typeface="Times New Roman" panose="02020603050405020304" charset="0"/>
                <a:cs typeface="Times New Roman" panose="02020603050405020304" charset="0"/>
              </a:rPr>
              <a:t>Delayed diagnosis, fragmented medical records, and limited real-time collaboration between doctors, patients, and medical students reduce the efficiency and quality of healthcare delivery.</a:t>
            </a:r>
            <a:endParaRPr lang="en-US" altLang="en-US" sz="1800">
              <a:latin typeface="Times New Roman" panose="02020603050405020304" charset="0"/>
              <a:cs typeface="Times New Roman" panose="02020603050405020304" charset="0"/>
            </a:endParaRPr>
          </a:p>
          <a:p>
            <a:pPr>
              <a:lnSpc>
                <a:spcPct val="130000"/>
              </a:lnSpc>
            </a:pPr>
            <a:endParaRPr lang="en-US" sz="1800">
              <a:latin typeface="Times New Roman" panose="02020603050405020304" charset="0"/>
              <a:cs typeface="Times New Roman" panose="02020603050405020304" charset="0"/>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Market Gap: </a:t>
            </a:r>
            <a:r>
              <a:rPr lang="en-US" sz="1800" dirty="0">
                <a:latin typeface="Times New Roman" panose="02020603050405020304" charset="0"/>
                <a:cs typeface="Times New Roman" panose="02020603050405020304" charset="0"/>
                <a:sym typeface="+mn-ea"/>
              </a:rPr>
              <a:t>Healthcare systems lack an integrated digital platform that connects </a:t>
            </a:r>
            <a:r>
              <a:rPr lang="en-US" sz="1800" b="1" dirty="0">
                <a:latin typeface="Times New Roman" panose="02020603050405020304" charset="0"/>
                <a:cs typeface="Times New Roman" panose="02020603050405020304" charset="0"/>
                <a:sym typeface="+mn-ea"/>
              </a:rPr>
              <a:t>doctors, patients, and medical students</a:t>
            </a:r>
            <a:r>
              <a:rPr lang="en-US" sz="1800" dirty="0">
                <a:latin typeface="Times New Roman" panose="02020603050405020304" charset="0"/>
                <a:cs typeface="Times New Roman" panose="02020603050405020304" charset="0"/>
                <a:sym typeface="+mn-ea"/>
              </a:rPr>
              <a:t>. Medical data, diagnostics, and education tools are scattered across multiple systems, creating inefficiencies in treatment and learning.</a:t>
            </a:r>
            <a:endParaRPr lang="en-US" sz="1800" dirty="0">
              <a:latin typeface="Times New Roman" panose="02020603050405020304" charset="0"/>
              <a:cs typeface="Times New Roman" panose="02020603050405020304" charset="0"/>
              <a:sym typeface="+mn-ea"/>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Costs: </a:t>
            </a:r>
            <a:r>
              <a:rPr lang="en-US" sz="1800" dirty="0">
                <a:latin typeface="Times New Roman" panose="02020603050405020304" charset="0"/>
                <a:cs typeface="Times New Roman" panose="02020603050405020304" charset="0"/>
                <a:sym typeface="+mn-ea"/>
              </a:rPr>
              <a:t>Manual record management, delayed diagnosis, and lack of real-time patient monitoring increase hospital costs and reduce healthcare efficiency.</a:t>
            </a:r>
            <a:endParaRPr lang="en-US" sz="1800" dirty="0">
              <a:latin typeface="Times New Roman" panose="02020603050405020304" charset="0"/>
              <a:cs typeface="Times New Roman" panose="02020603050405020304" charset="0"/>
              <a:sym typeface="+mn-ea"/>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Customers: </a:t>
            </a:r>
            <a:r>
              <a:rPr lang="en-US" sz="1800" dirty="0">
                <a:latin typeface="Times New Roman" panose="02020603050405020304" charset="0"/>
                <a:cs typeface="Times New Roman" panose="02020603050405020304" charset="0"/>
                <a:sym typeface="+mn-ea"/>
              </a:rPr>
              <a:t>Doctors require faster diagnostic support, patients need easier access to medical records and health monitoring, and medical students need practical learning from real clinical cases. Current platforms fail to serve all three groups in one ecosystem.</a:t>
            </a:r>
            <a:endParaRPr lang="en-US" sz="1800" dirty="0">
              <a:latin typeface="Times New Roman" panose="02020603050405020304" charset="0"/>
              <a:cs typeface="Times New Roman" panose="02020603050405020304" charset="0"/>
              <a:sym typeface="+mn-ea"/>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Financials: </a:t>
            </a:r>
            <a:r>
              <a:rPr lang="en-US" sz="1800" dirty="0">
                <a:latin typeface="Times New Roman" panose="02020603050405020304" charset="0"/>
                <a:cs typeface="Times New Roman" panose="02020603050405020304" charset="0"/>
                <a:sym typeface="+mn-ea"/>
              </a:rPr>
              <a:t>Hospitals spend significant resources on inefficient workflows, repeated tests, and delayed specialist consultations, increasing operational costs and patient treatment expenses.</a:t>
            </a:r>
            <a:endParaRPr lang="en-US" sz="1800" dirty="0">
              <a:latin typeface="Times New Roman" panose="02020603050405020304" charset="0"/>
              <a:cs typeface="Times New Roman" panose="02020603050405020304" charset="0"/>
            </a:endParaRPr>
          </a:p>
          <a:p>
            <a:pPr>
              <a:lnSpc>
                <a:spcPct val="130000"/>
              </a:lnSpc>
            </a:pPr>
            <a:br>
              <a:rPr lang="en-US" sz="1800" dirty="0">
                <a:sym typeface="+mn-ea"/>
              </a:rPr>
            </a:br>
            <a:endParaRPr lang="en-US" sz="1800" dirty="0">
              <a:latin typeface="Times New Roman" panose="02020603050405020304" charset="0"/>
              <a:cs typeface="Times New Roman" panose="02020603050405020304" charset="0"/>
              <a:sym typeface="+mn-ea"/>
            </a:endParaRPr>
          </a:p>
          <a:p>
            <a:pPr>
              <a:lnSpc>
                <a:spcPct val="110000"/>
              </a:lnSpc>
            </a:pPr>
            <a:endParaRPr lang="en-US" sz="1800" dirty="0">
              <a:latin typeface="Times New Roman" panose="02020603050405020304" charset="0"/>
              <a:cs typeface="Times New Roman" panose="02020603050405020304" charset="0"/>
            </a:endParaRPr>
          </a:p>
          <a:p>
            <a:endParaRPr lang="en-US" sz="18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762000" y="381000"/>
            <a:ext cx="4064000" cy="460375"/>
          </a:xfrm>
          <a:prstGeom prst="rect">
            <a:avLst/>
          </a:prstGeom>
          <a:noFill/>
        </p:spPr>
        <p:txBody>
          <a:bodyPr wrap="square" rtlCol="0">
            <a:spAutoFit/>
          </a:bodyPr>
          <a:lstStyle/>
          <a:p>
            <a:r>
              <a:rPr lang="en-US" sz="2400" b="1">
                <a:latin typeface="Arial" panose="020B0604020202020204" pitchFamily="34" charset="0"/>
                <a:cs typeface="Arial" panose="020B0604020202020204" pitchFamily="34" charset="0"/>
              </a:rPr>
              <a:t>Solution</a:t>
            </a:r>
            <a:endParaRPr lang="en-US" sz="2400" b="1">
              <a:latin typeface="Arial" panose="020B0604020202020204" pitchFamily="34" charset="0"/>
              <a:cs typeface="Arial" panose="020B0604020202020204" pitchFamily="34" charset="0"/>
            </a:endParaRPr>
          </a:p>
        </p:txBody>
      </p:sp>
      <p:sp>
        <p:nvSpPr>
          <p:cNvPr id="4" name="Text Box 3"/>
          <p:cNvSpPr txBox="1"/>
          <p:nvPr/>
        </p:nvSpPr>
        <p:spPr>
          <a:xfrm>
            <a:off x="533400" y="1097915"/>
            <a:ext cx="9985375" cy="5184775"/>
          </a:xfrm>
          <a:prstGeom prst="rect">
            <a:avLst/>
          </a:prstGeom>
          <a:noFill/>
        </p:spPr>
        <p:txBody>
          <a:bodyPr wrap="square" rtlCol="0">
            <a:noAutofit/>
          </a:bodyPr>
          <a:lstStyle/>
          <a:p>
            <a:pPr>
              <a:lnSpc>
                <a:spcPct val="130000"/>
              </a:lnSpc>
            </a:pPr>
            <a:r>
              <a:rPr lang="en-US" altLang="en-US">
                <a:latin typeface="Times New Roman" panose="02020603050405020304" charset="0"/>
                <a:cs typeface="Times New Roman" panose="02020603050405020304" charset="0"/>
              </a:rPr>
              <a:t>An AI-powered integrated platform that connects doctors, patients, and medical students to enable faster diagnosis, secure access to digital health records, and real-time collaboration.</a:t>
            </a:r>
            <a:endParaRPr lang="en-US" altLang="en-US">
              <a:latin typeface="Times New Roman" panose="02020603050405020304" charset="0"/>
              <a:cs typeface="Times New Roman" panose="02020603050405020304" charset="0"/>
            </a:endParaRPr>
          </a:p>
          <a:p>
            <a:pPr>
              <a:lnSpc>
                <a:spcPct val="130000"/>
              </a:lnSpc>
            </a:pPr>
            <a:endParaRPr lang="en-US">
              <a:latin typeface="Times New Roman" panose="02020603050405020304" charset="0"/>
              <a:cs typeface="Times New Roman" panose="02020603050405020304" charset="0"/>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Close the gap: </a:t>
            </a:r>
            <a:r>
              <a:rPr lang="en-US" sz="1800" dirty="0">
                <a:latin typeface="Times New Roman" panose="02020603050405020304" charset="0"/>
                <a:cs typeface="Times New Roman" panose="02020603050405020304" charset="0"/>
                <a:sym typeface="+mn-ea"/>
              </a:rPr>
              <a:t>Our AI platform connects </a:t>
            </a:r>
            <a:r>
              <a:rPr lang="en-US" sz="1800" b="1" dirty="0">
                <a:latin typeface="Times New Roman" panose="02020603050405020304" charset="0"/>
                <a:cs typeface="Times New Roman" panose="02020603050405020304" charset="0"/>
                <a:sym typeface="+mn-ea"/>
              </a:rPr>
              <a:t>doctors, patients, and medical students</a:t>
            </a:r>
            <a:r>
              <a:rPr lang="en-US" sz="1800" dirty="0">
                <a:latin typeface="Times New Roman" panose="02020603050405020304" charset="0"/>
                <a:cs typeface="Times New Roman" panose="02020603050405020304" charset="0"/>
                <a:sym typeface="+mn-ea"/>
              </a:rPr>
              <a:t> in one ecosystem, enabling faster diagnosis, digital medical records, and real-time healthcare insights.</a:t>
            </a:r>
            <a:endParaRPr lang="en-US" sz="1800" dirty="0">
              <a:latin typeface="Times New Roman" panose="02020603050405020304" charset="0"/>
              <a:cs typeface="Times New Roman" panose="02020603050405020304" charset="0"/>
              <a:sym typeface="+mn-ea"/>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Cost savings: </a:t>
            </a:r>
            <a:r>
              <a:rPr lang="en-US" sz="1800" dirty="0">
                <a:latin typeface="Times New Roman" panose="02020603050405020304" charset="0"/>
                <a:cs typeface="Times New Roman" panose="02020603050405020304" charset="0"/>
                <a:sym typeface="+mn-ea"/>
              </a:rPr>
              <a:t>AI-assisted diagnosis and digital record management reduce unnecessary tests, consultation delays, and operational costs for hospitals and patients.</a:t>
            </a:r>
            <a:endParaRPr lang="en-US" sz="1800" dirty="0">
              <a:latin typeface="Times New Roman" panose="02020603050405020304" charset="0"/>
              <a:cs typeface="Times New Roman" panose="02020603050405020304" charset="0"/>
              <a:sym typeface="+mn-ea"/>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Target Audience: </a:t>
            </a:r>
            <a:r>
              <a:rPr lang="en-US" sz="1800" dirty="0">
                <a:latin typeface="Times New Roman" panose="02020603050405020304" charset="0"/>
                <a:cs typeface="Times New Roman" panose="02020603050405020304" charset="0"/>
                <a:sym typeface="+mn-ea"/>
              </a:rPr>
              <a:t>Doctors, hospitals, medical students, and health-conscious individuals who need smarter diagnosis, better patient management, and practical medical learning.</a:t>
            </a:r>
            <a:endParaRPr lang="en-US" sz="1800" dirty="0">
              <a:latin typeface="Times New Roman" panose="02020603050405020304" charset="0"/>
              <a:cs typeface="Times New Roman" panose="02020603050405020304" charset="0"/>
              <a:sym typeface="+mn-ea"/>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Easy to use: </a:t>
            </a:r>
            <a:r>
              <a:rPr lang="en-US" sz="1800" dirty="0">
                <a:latin typeface="Times New Roman" panose="02020603050405020304" charset="0"/>
                <a:cs typeface="Times New Roman" panose="02020603050405020304" charset="0"/>
                <a:sym typeface="+mn-ea"/>
              </a:rPr>
              <a:t>A simple digital platform allows doctors to analyze reports, patients to access medical records, and students to learn from real clinical cases in one place.</a:t>
            </a:r>
            <a:endParaRPr lang="en-US" sz="1800" dirty="0">
              <a:latin typeface="Times New Roman" panose="02020603050405020304" charset="0"/>
              <a:cs typeface="Times New Roman" panose="02020603050405020304" charset="0"/>
              <a:sym typeface="+mn-ea"/>
            </a:endParaRPr>
          </a:p>
          <a:p>
            <a:pPr marL="285750" indent="-285750">
              <a:lnSpc>
                <a:spcPct val="130000"/>
              </a:lnSpc>
              <a:buFont typeface="Arial" panose="020B0604020202020204" pitchFamily="34" charset="0"/>
              <a:buChar char="•"/>
            </a:pPr>
            <a:r>
              <a:rPr lang="en-US" altLang="en-US" sz="1800" b="1" dirty="0">
                <a:latin typeface="Times New Roman" panose="02020603050405020304" charset="0"/>
                <a:cs typeface="Times New Roman" panose="02020603050405020304" charset="0"/>
              </a:rPr>
              <a:t>Value proposition: </a:t>
            </a:r>
            <a:r>
              <a:rPr lang="en-US" altLang="en-US" sz="1800" b="0" dirty="0">
                <a:latin typeface="Times New Roman" panose="02020603050405020304" charset="0"/>
                <a:cs typeface="Times New Roman" panose="02020603050405020304" charset="0"/>
              </a:rPr>
              <a:t>Improves healthcare efficiency with up to 80% faster diagnosis, 10% fewer errors, reduced costs, and fully digital, scalable, and eco-friendly patient management.</a:t>
            </a:r>
            <a:endParaRPr lang="en-US" altLang="en-US" sz="1800" b="1" dirty="0">
              <a:latin typeface="Times New Roman" panose="02020603050405020304" charset="0"/>
              <a:cs typeface="Times New Roman" panose="02020603050405020304" charset="0"/>
            </a:endParaRPr>
          </a:p>
          <a:p>
            <a:endParaRPr lang="en-US" sz="1800" b="1" dirty="0">
              <a:latin typeface="Times New Roman" panose="02020603050405020304" charset="0"/>
              <a:cs typeface="Times New Roman" panose="02020603050405020304" charset="0"/>
            </a:endParaRPr>
          </a:p>
          <a:p>
            <a:endParaRPr lang="en-US" sz="1800" b="1" dirty="0">
              <a:latin typeface="Times New Roman" panose="02020603050405020304" charset="0"/>
              <a:cs typeface="Times New Roman" panose="02020603050405020304" charset="0"/>
            </a:endParaRPr>
          </a:p>
          <a:p>
            <a:endParaRPr lang="en-US" sz="1800" dirty="0">
              <a:latin typeface="Times New Roman" panose="02020603050405020304" charset="0"/>
              <a:cs typeface="Times New Roman" panose="02020603050405020304" charset="0"/>
            </a:endParaRPr>
          </a:p>
          <a:p>
            <a:endParaRPr lang="en-US" sz="1800" b="1">
              <a:latin typeface="Times New Roman" panose="02020603050405020304" charset="0"/>
              <a:cs typeface="Times New Roman" panose="02020603050405020304" charset="0"/>
            </a:endParaRPr>
          </a:p>
        </p:txBody>
      </p:sp>
      <p:pic>
        <p:nvPicPr>
          <p:cNvPr id="5" name="Picture 4"/>
          <p:cNvPicPr/>
          <p:nvPr/>
        </p:nvPicPr>
        <p:blipFill>
          <a:blip r:embed="rId1"/>
          <a:stretch>
            <a:fillRect/>
          </a:stretch>
        </p:blipFill>
        <p:spPr>
          <a:xfrm>
            <a:off x="228600" y="228600"/>
            <a:ext cx="643255" cy="7670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118412" y="343915"/>
            <a:ext cx="4919345" cy="39116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000047"/>
                </a:solidFill>
                <a:latin typeface="Arial" panose="020B0604020202020204"/>
                <a:cs typeface="Arial" panose="020B0604020202020204"/>
              </a:rPr>
              <a:t>&lt;idea</a:t>
            </a:r>
            <a:r>
              <a:rPr sz="1800" i="1" spc="-40" dirty="0">
                <a:solidFill>
                  <a:srgbClr val="000047"/>
                </a:solidFill>
                <a:latin typeface="Arial" panose="020B0604020202020204"/>
                <a:cs typeface="Arial" panose="020B0604020202020204"/>
              </a:rPr>
              <a:t> </a:t>
            </a:r>
            <a:r>
              <a:rPr sz="1800" i="1" dirty="0">
                <a:solidFill>
                  <a:srgbClr val="000047"/>
                </a:solidFill>
                <a:latin typeface="Arial" panose="020B0604020202020204"/>
                <a:cs typeface="Arial" panose="020B0604020202020204"/>
              </a:rPr>
              <a:t>description&gt;</a:t>
            </a:r>
            <a:r>
              <a:rPr sz="1800" i="1" spc="-30"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a:t>
            </a:r>
            <a:r>
              <a:rPr sz="2400" b="1" spc="-50"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Business</a:t>
            </a:r>
            <a:r>
              <a:rPr sz="2400" b="1" spc="-5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Plan</a:t>
            </a:r>
            <a:r>
              <a:rPr sz="2400" b="1" spc="-65" dirty="0">
                <a:solidFill>
                  <a:srgbClr val="000047"/>
                </a:solidFill>
                <a:latin typeface="Arial" panose="020B0604020202020204"/>
                <a:cs typeface="Arial" panose="020B0604020202020204"/>
              </a:rPr>
              <a:t> </a:t>
            </a:r>
            <a:r>
              <a:rPr sz="2400" b="1" spc="-10" dirty="0">
                <a:solidFill>
                  <a:srgbClr val="000047"/>
                </a:solidFill>
                <a:latin typeface="Arial" panose="020B0604020202020204"/>
                <a:cs typeface="Arial" panose="020B0604020202020204"/>
              </a:rPr>
              <a:t>(1/2)</a:t>
            </a:r>
            <a:endParaRPr sz="2400">
              <a:latin typeface="Arial" panose="020B0604020202020204"/>
              <a:cs typeface="Arial" panose="020B0604020202020204"/>
            </a:endParaRPr>
          </a:p>
        </p:txBody>
      </p:sp>
      <p:sp>
        <p:nvSpPr>
          <p:cNvPr id="14" name="object 14"/>
          <p:cNvSpPr/>
          <p:nvPr/>
        </p:nvSpPr>
        <p:spPr>
          <a:xfrm>
            <a:off x="639066" y="265582"/>
            <a:ext cx="0" cy="52705"/>
          </a:xfrm>
          <a:custGeom>
            <a:avLst/>
            <a:gdLst/>
            <a:ahLst/>
            <a:cxnLst/>
            <a:rect l="l" t="t" r="r" b="b"/>
            <a:pathLst>
              <a:path h="52704">
                <a:moveTo>
                  <a:pt x="0" y="0"/>
                </a:moveTo>
                <a:lnTo>
                  <a:pt x="0" y="52231"/>
                </a:lnTo>
              </a:path>
            </a:pathLst>
          </a:custGeom>
          <a:ln w="19815">
            <a:solidFill>
              <a:srgbClr val="000047"/>
            </a:solidFill>
          </a:ln>
        </p:spPr>
        <p:txBody>
          <a:bodyPr wrap="square" lIns="0" tIns="0" rIns="0" bIns="0" rtlCol="0"/>
          <a:lstStyle/>
          <a:p/>
        </p:txBody>
      </p:sp>
      <p:grpSp>
        <p:nvGrpSpPr>
          <p:cNvPr id="15" name="object 15"/>
          <p:cNvGrpSpPr/>
          <p:nvPr/>
        </p:nvGrpSpPr>
        <p:grpSpPr>
          <a:xfrm>
            <a:off x="429458" y="327830"/>
            <a:ext cx="408940" cy="525780"/>
            <a:chOff x="429458" y="327830"/>
            <a:chExt cx="408940" cy="525780"/>
          </a:xfrm>
        </p:grpSpPr>
        <p:sp>
          <p:nvSpPr>
            <p:cNvPr id="16" name="object 16"/>
            <p:cNvSpPr/>
            <p:nvPr/>
          </p:nvSpPr>
          <p:spPr>
            <a:xfrm>
              <a:off x="439374" y="337747"/>
              <a:ext cx="389255" cy="398145"/>
            </a:xfrm>
            <a:custGeom>
              <a:avLst/>
              <a:gdLst/>
              <a:ahLst/>
              <a:cxnLst/>
              <a:rect l="l" t="t" r="r" b="b"/>
              <a:pathLst>
                <a:path w="389255" h="398145">
                  <a:moveTo>
                    <a:pt x="388790" y="0"/>
                  </a:moveTo>
                  <a:lnTo>
                    <a:pt x="351924" y="36930"/>
                  </a:lnTo>
                </a:path>
                <a:path w="389255" h="398145">
                  <a:moveTo>
                    <a:pt x="381235" y="398000"/>
                  </a:moveTo>
                  <a:lnTo>
                    <a:pt x="344452" y="361128"/>
                  </a:lnTo>
                </a:path>
                <a:path w="389255" h="398145">
                  <a:moveTo>
                    <a:pt x="7529" y="0"/>
                  </a:moveTo>
                  <a:lnTo>
                    <a:pt x="44337" y="36930"/>
                  </a:lnTo>
                </a:path>
                <a:path w="389255" h="398145">
                  <a:moveTo>
                    <a:pt x="0" y="398000"/>
                  </a:moveTo>
                  <a:lnTo>
                    <a:pt x="36857" y="361127"/>
                  </a:lnTo>
                </a:path>
                <a:path w="389255" h="398145">
                  <a:moveTo>
                    <a:pt x="199840" y="51280"/>
                  </a:moveTo>
                  <a:lnTo>
                    <a:pt x="195877" y="51280"/>
                  </a:lnTo>
                  <a:lnTo>
                    <a:pt x="245445" y="59141"/>
                  </a:lnTo>
                  <a:lnTo>
                    <a:pt x="286275" y="80420"/>
                  </a:lnTo>
                  <a:lnTo>
                    <a:pt x="317059" y="111662"/>
                  </a:lnTo>
                  <a:lnTo>
                    <a:pt x="336488" y="149411"/>
                  </a:lnTo>
                  <a:lnTo>
                    <a:pt x="343255" y="190214"/>
                  </a:lnTo>
                  <a:lnTo>
                    <a:pt x="334651" y="237814"/>
                  </a:lnTo>
                  <a:lnTo>
                    <a:pt x="314134" y="276880"/>
                  </a:lnTo>
                  <a:lnTo>
                    <a:pt x="289646" y="312596"/>
                  </a:lnTo>
                  <a:lnTo>
                    <a:pt x="269129" y="350149"/>
                  </a:lnTo>
                  <a:lnTo>
                    <a:pt x="260525" y="394725"/>
                  </a:lnTo>
                  <a:lnTo>
                    <a:pt x="128256" y="394724"/>
                  </a:lnTo>
                  <a:lnTo>
                    <a:pt x="119678" y="350106"/>
                  </a:lnTo>
                  <a:lnTo>
                    <a:pt x="99222" y="312500"/>
                  </a:lnTo>
                  <a:lnTo>
                    <a:pt x="74807" y="276748"/>
                  </a:lnTo>
                  <a:lnTo>
                    <a:pt x="54352" y="237689"/>
                  </a:lnTo>
                  <a:lnTo>
                    <a:pt x="45774" y="190164"/>
                  </a:lnTo>
                  <a:lnTo>
                    <a:pt x="52522" y="149377"/>
                  </a:lnTo>
                  <a:lnTo>
                    <a:pt x="71913" y="111621"/>
                  </a:lnTo>
                  <a:lnTo>
                    <a:pt x="102668" y="80363"/>
                  </a:lnTo>
                  <a:lnTo>
                    <a:pt x="143507" y="59066"/>
                  </a:lnTo>
                  <a:lnTo>
                    <a:pt x="193152" y="51198"/>
                  </a:lnTo>
                  <a:lnTo>
                    <a:pt x="189189" y="51198"/>
                  </a:lnTo>
                </a:path>
              </a:pathLst>
            </a:custGeom>
            <a:ln w="19833">
              <a:solidFill>
                <a:srgbClr val="000047"/>
              </a:solidFill>
            </a:ln>
          </p:spPr>
          <p:txBody>
            <a:bodyPr wrap="square" lIns="0" tIns="0" rIns="0" bIns="0" rtlCol="0"/>
            <a:lstStyle/>
            <a:p/>
          </p:txBody>
        </p:sp>
        <p:pic>
          <p:nvPicPr>
            <p:cNvPr id="17" name="object 17"/>
            <p:cNvPicPr/>
            <p:nvPr/>
          </p:nvPicPr>
          <p:blipFill>
            <a:blip r:embed="rId1" cstate="print"/>
            <a:stretch>
              <a:fillRect/>
            </a:stretch>
          </p:blipFill>
          <p:spPr>
            <a:xfrm>
              <a:off x="571990" y="760858"/>
              <a:ext cx="123550" cy="92453"/>
            </a:xfrm>
            <a:prstGeom prst="rect">
              <a:avLst/>
            </a:prstGeom>
          </p:spPr>
        </p:pic>
      </p:grpSp>
      <p:sp>
        <p:nvSpPr>
          <p:cNvPr id="18" name="object 18"/>
          <p:cNvSpPr/>
          <p:nvPr/>
        </p:nvSpPr>
        <p:spPr>
          <a:xfrm>
            <a:off x="861934" y="541013"/>
            <a:ext cx="52705" cy="0"/>
          </a:xfrm>
          <a:custGeom>
            <a:avLst/>
            <a:gdLst/>
            <a:ahLst/>
            <a:cxnLst/>
            <a:rect l="l" t="t" r="r" b="b"/>
            <a:pathLst>
              <a:path w="52705">
                <a:moveTo>
                  <a:pt x="52139" y="0"/>
                </a:moveTo>
                <a:lnTo>
                  <a:pt x="0" y="0"/>
                </a:lnTo>
              </a:path>
            </a:pathLst>
          </a:custGeom>
          <a:ln w="19850">
            <a:solidFill>
              <a:srgbClr val="000047"/>
            </a:solidFill>
          </a:ln>
        </p:spPr>
        <p:txBody>
          <a:bodyPr wrap="square" lIns="0" tIns="0" rIns="0" bIns="0" rtlCol="0"/>
          <a:lstStyle/>
          <a:p/>
        </p:txBody>
      </p:sp>
      <p:sp>
        <p:nvSpPr>
          <p:cNvPr id="19" name="object 19"/>
          <p:cNvSpPr/>
          <p:nvPr/>
        </p:nvSpPr>
        <p:spPr>
          <a:xfrm>
            <a:off x="353474" y="530343"/>
            <a:ext cx="52069" cy="0"/>
          </a:xfrm>
          <a:custGeom>
            <a:avLst/>
            <a:gdLst/>
            <a:ahLst/>
            <a:cxnLst/>
            <a:rect l="l" t="t" r="r" b="b"/>
            <a:pathLst>
              <a:path w="52070">
                <a:moveTo>
                  <a:pt x="0" y="0"/>
                </a:moveTo>
                <a:lnTo>
                  <a:pt x="52065" y="0"/>
                </a:lnTo>
              </a:path>
            </a:pathLst>
          </a:custGeom>
          <a:ln w="19850">
            <a:solidFill>
              <a:srgbClr val="000047"/>
            </a:solidFill>
          </a:ln>
        </p:spPr>
        <p:txBody>
          <a:bodyPr wrap="square" lIns="0" tIns="0" rIns="0" bIns="0" rtlCol="0"/>
          <a:lstStyle/>
          <a:p/>
        </p:txBody>
      </p:sp>
      <p:sp>
        <p:nvSpPr>
          <p:cNvPr id="21" name="object 21"/>
          <p:cNvSpPr txBox="1">
            <a:spLocks noGrp="1"/>
          </p:cNvSpPr>
          <p:nvPr>
            <p:ph type="ftr" sz="quarter" idx="11"/>
          </p:nvPr>
        </p:nvSpPr>
        <p:spPr>
          <a:prstGeom prst="rect">
            <a:avLst/>
          </a:prstGeom>
        </p:spPr>
        <p:txBody>
          <a:bodyPr vert="horz" wrap="square" lIns="0" tIns="3810" rIns="0" bIns="0" rtlCol="0">
            <a:spAutoFit/>
          </a:bodyPr>
          <a:lstStyle/>
          <a:p>
            <a:pPr marL="104140">
              <a:lnSpc>
                <a:spcPct val="100000"/>
              </a:lnSpc>
              <a:spcBef>
                <a:spcPts val="30"/>
              </a:spcBef>
            </a:pPr>
            <a:r>
              <a:rPr dirty="0"/>
              <a:t>©</a:t>
            </a:r>
            <a:r>
              <a:rPr spc="-35" dirty="0"/>
              <a:t> </a:t>
            </a:r>
            <a:r>
              <a:rPr dirty="0"/>
              <a:t>2026–2027 Cognizant</a:t>
            </a:r>
            <a:r>
              <a:rPr spc="-10" dirty="0"/>
              <a:t> </a:t>
            </a:r>
            <a:r>
              <a:rPr dirty="0"/>
              <a:t>|</a:t>
            </a:r>
            <a:r>
              <a:rPr spc="-30" dirty="0"/>
              <a:t> </a:t>
            </a:r>
            <a:r>
              <a:rPr spc="-10" dirty="0"/>
              <a:t>Private</a:t>
            </a:r>
            <a:endParaRPr spc="-10" dirty="0"/>
          </a:p>
        </p:txBody>
      </p:sp>
      <p:sp>
        <p:nvSpPr>
          <p:cNvPr id="22" name="object 22"/>
          <p:cNvSpPr txBox="1">
            <a:spLocks noGrp="1"/>
          </p:cNvSpPr>
          <p:nvPr>
            <p:ph type="sldNum" sz="quarter" idx="12"/>
          </p:nvPr>
        </p:nvSpPr>
        <p:spPr>
          <a:prstGeom prst="rect">
            <a:avLst/>
          </a:prstGeom>
        </p:spPr>
        <p:txBody>
          <a:bodyPr vert="horz" wrap="square" lIns="0" tIns="64769" rIns="0" bIns="0" rtlCol="0">
            <a:spAutoFit/>
          </a:bodyPr>
          <a:lstStyle/>
          <a:p>
            <a:pPr marL="38100">
              <a:lnSpc>
                <a:spcPct val="100000"/>
              </a:lnSpc>
              <a:spcBef>
                <a:spcPts val="30"/>
              </a:spcBef>
            </a:pPr>
            <a:fld id="{81D60167-4931-47E6-BA6A-407CBD079E47}" type="slidenum">
              <a:rPr spc="-50" dirty="0"/>
            </a:fld>
            <a:endParaRPr spc="-50" dirty="0"/>
          </a:p>
        </p:txBody>
      </p:sp>
      <p:sp>
        <p:nvSpPr>
          <p:cNvPr id="4" name="Text Placeholder 3"/>
          <p:cNvSpPr>
            <a:spLocks noGrp="1"/>
          </p:cNvSpPr>
          <p:nvPr>
            <p:ph type="body" idx="1"/>
          </p:nvPr>
        </p:nvSpPr>
        <p:spPr>
          <a:xfrm>
            <a:off x="792493" y="1143000"/>
            <a:ext cx="9819640" cy="5351721"/>
          </a:xfrm>
        </p:spPr>
        <p:txBody>
          <a:bodyPr/>
          <a:lstStyle/>
          <a:p>
            <a:pPr>
              <a:lnSpc>
                <a:spcPct val="150000"/>
              </a:lnSpc>
            </a:pPr>
            <a:r>
              <a:rPr lang="en-US" sz="1800" dirty="0">
                <a:solidFill>
                  <a:schemeClr val="tx1"/>
                </a:solidFill>
                <a:latin typeface="Times New Roman" panose="02020603050405020304" charset="0"/>
                <a:cs typeface="Times New Roman" panose="02020603050405020304" charset="0"/>
              </a:rPr>
              <a:t>Healthcare systems suffer from poor communication and fragmented data, making it hard for patients to understand reports while limiting real-world learning for students and structured data access for researchers.</a:t>
            </a:r>
            <a:endParaRPr lang="en-US" sz="1800" dirty="0">
              <a:solidFill>
                <a:schemeClr val="tx1"/>
              </a:solidFill>
              <a:latin typeface="Times New Roman" panose="02020603050405020304" charset="0"/>
              <a:cs typeface="Times New Roman" panose="02020603050405020304" charset="0"/>
            </a:endParaRPr>
          </a:p>
          <a:p>
            <a:pPr marL="285750" indent="-285750">
              <a:lnSpc>
                <a:spcPct val="150000"/>
              </a:lnSpc>
              <a:buFont typeface="Wingdings" panose="05000000000000000000" pitchFamily="2" charset="2"/>
              <a:buChar char="Ø"/>
            </a:pPr>
            <a:r>
              <a:rPr lang="en-IN" sz="1800" b="1" dirty="0">
                <a:solidFill>
                  <a:schemeClr val="tx1"/>
                </a:solidFill>
                <a:latin typeface="Times New Roman" panose="02020603050405020304" charset="0"/>
                <a:cs typeface="Times New Roman" panose="02020603050405020304" charset="0"/>
              </a:rPr>
              <a:t>Target Users / Stakeholders: </a:t>
            </a:r>
            <a:r>
              <a:rPr lang="en-US" sz="1800" dirty="0">
                <a:solidFill>
                  <a:schemeClr val="tx1"/>
                </a:solidFill>
                <a:latin typeface="Times New Roman" panose="02020603050405020304" charset="0"/>
                <a:cs typeface="Times New Roman" panose="02020603050405020304" charset="0"/>
              </a:rPr>
              <a:t>Doctors, patients, medical students, and researchers require efficient workflows, simplified health insights, real-world learning, and access to secure, large-scale healthcare data.</a:t>
            </a:r>
            <a:endParaRPr lang="en-US" sz="1800" dirty="0">
              <a:solidFill>
                <a:schemeClr val="tx1"/>
              </a:solidFill>
              <a:latin typeface="Times New Roman" panose="02020603050405020304" charset="0"/>
              <a:cs typeface="Times New Roman" panose="02020603050405020304" charset="0"/>
            </a:endParaRPr>
          </a:p>
          <a:p>
            <a:pPr marL="285750" indent="-285750">
              <a:lnSpc>
                <a:spcPct val="150000"/>
              </a:lnSpc>
              <a:buFont typeface="Wingdings" panose="05000000000000000000" pitchFamily="2" charset="2"/>
              <a:buChar char="Ø"/>
            </a:pPr>
            <a:r>
              <a:rPr lang="en-IN" sz="1800" b="1" dirty="0">
                <a:solidFill>
                  <a:schemeClr val="tx1"/>
                </a:solidFill>
                <a:latin typeface="Times New Roman" panose="02020603050405020304" charset="0"/>
                <a:cs typeface="Times New Roman" panose="02020603050405020304" charset="0"/>
              </a:rPr>
              <a:t>Technical Details : </a:t>
            </a:r>
            <a:r>
              <a:rPr lang="en-IN" sz="1800" dirty="0">
                <a:solidFill>
                  <a:schemeClr val="tx1"/>
                </a:solidFill>
                <a:latin typeface="Times New Roman" panose="02020603050405020304" charset="0"/>
                <a:cs typeface="Times New Roman" panose="02020603050405020304" charset="0"/>
              </a:rPr>
              <a:t>Backend built using Python Flask with Cloud LLM APIs (Gemini/</a:t>
            </a:r>
            <a:r>
              <a:rPr lang="en-IN" sz="1800" dirty="0" err="1">
                <a:solidFill>
                  <a:schemeClr val="tx1"/>
                </a:solidFill>
                <a:latin typeface="Times New Roman" panose="02020603050405020304" charset="0"/>
                <a:cs typeface="Times New Roman" panose="02020603050405020304" charset="0"/>
              </a:rPr>
              <a:t>Groq</a:t>
            </a:r>
            <a:r>
              <a:rPr lang="en-IN" sz="1800" dirty="0">
                <a:solidFill>
                  <a:schemeClr val="tx1"/>
                </a:solidFill>
                <a:latin typeface="Times New Roman" panose="02020603050405020304" charset="0"/>
                <a:cs typeface="Times New Roman" panose="02020603050405020304" charset="0"/>
              </a:rPr>
              <a:t>), leveraging NLP for medical text translation and structuring, along with a secure database and anonymization pipeline.</a:t>
            </a:r>
            <a:endParaRPr lang="en-IN" sz="1800" dirty="0">
              <a:solidFill>
                <a:schemeClr val="tx1"/>
              </a:solidFill>
              <a:latin typeface="Times New Roman" panose="02020603050405020304" charset="0"/>
              <a:cs typeface="Times New Roman" panose="02020603050405020304" charset="0"/>
            </a:endParaRPr>
          </a:p>
          <a:p>
            <a:pPr marL="285750" indent="-285750">
              <a:lnSpc>
                <a:spcPct val="150000"/>
              </a:lnSpc>
              <a:buFont typeface="Wingdings" panose="05000000000000000000" pitchFamily="2" charset="2"/>
              <a:buChar char="Ø"/>
            </a:pPr>
            <a:r>
              <a:rPr lang="en-IN" sz="1800" b="1" dirty="0">
                <a:solidFill>
                  <a:schemeClr val="tx1"/>
                </a:solidFill>
                <a:latin typeface="Times New Roman" panose="02020603050405020304" charset="0"/>
                <a:cs typeface="Times New Roman" panose="02020603050405020304" charset="0"/>
              </a:rPr>
              <a:t>Innovation : </a:t>
            </a:r>
            <a:r>
              <a:rPr lang="en-US" sz="1800" dirty="0">
                <a:solidFill>
                  <a:schemeClr val="tx1"/>
                </a:solidFill>
                <a:latin typeface="Times New Roman" panose="02020603050405020304" charset="0"/>
                <a:cs typeface="Times New Roman" panose="02020603050405020304" charset="0"/>
              </a:rPr>
              <a:t>Data Flywheel Model enables a single data input to serve multiple users, transforming hospital cases into real-time learning modules with AI-generated patient-friendly summaries while integrating healthcare, education, and research in one platform.</a:t>
            </a:r>
            <a:endParaRPr lang="en-US" sz="1800" b="1" dirty="0">
              <a:solidFill>
                <a:schemeClr val="tx1"/>
              </a:solidFill>
              <a:latin typeface="Times New Roman" panose="02020603050405020304" charset="0"/>
              <a:cs typeface="Times New Roman" panose="02020603050405020304" charset="0"/>
            </a:endParaRPr>
          </a:p>
          <a:p>
            <a:pPr>
              <a:lnSpc>
                <a:spcPct val="150000"/>
              </a:lnSpc>
            </a:pPr>
            <a:endParaRPr lang="en-IN" sz="1800" dirty="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118412" y="343915"/>
            <a:ext cx="4919345" cy="39116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000047"/>
                </a:solidFill>
                <a:latin typeface="Arial" panose="020B0604020202020204"/>
                <a:cs typeface="Arial" panose="020B0604020202020204"/>
              </a:rPr>
              <a:t>&lt;idea</a:t>
            </a:r>
            <a:r>
              <a:rPr sz="1800" i="1" spc="-40" dirty="0">
                <a:solidFill>
                  <a:srgbClr val="000047"/>
                </a:solidFill>
                <a:latin typeface="Arial" panose="020B0604020202020204"/>
                <a:cs typeface="Arial" panose="020B0604020202020204"/>
              </a:rPr>
              <a:t> </a:t>
            </a:r>
            <a:r>
              <a:rPr sz="1800" i="1" dirty="0">
                <a:solidFill>
                  <a:srgbClr val="000047"/>
                </a:solidFill>
                <a:latin typeface="Arial" panose="020B0604020202020204"/>
                <a:cs typeface="Arial" panose="020B0604020202020204"/>
              </a:rPr>
              <a:t>description&gt;</a:t>
            </a:r>
            <a:r>
              <a:rPr sz="1800" i="1" spc="-30"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a:t>
            </a:r>
            <a:r>
              <a:rPr sz="2400" b="1" spc="-50"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Business</a:t>
            </a:r>
            <a:r>
              <a:rPr sz="2400" b="1" spc="-5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Plan</a:t>
            </a:r>
            <a:r>
              <a:rPr sz="2400" b="1" spc="-65" dirty="0">
                <a:solidFill>
                  <a:srgbClr val="000047"/>
                </a:solidFill>
                <a:latin typeface="Arial" panose="020B0604020202020204"/>
                <a:cs typeface="Arial" panose="020B0604020202020204"/>
              </a:rPr>
              <a:t> </a:t>
            </a:r>
            <a:r>
              <a:rPr sz="2400" b="1" spc="-10" dirty="0">
                <a:solidFill>
                  <a:srgbClr val="000047"/>
                </a:solidFill>
                <a:latin typeface="Arial" panose="020B0604020202020204"/>
                <a:cs typeface="Arial" panose="020B0604020202020204"/>
              </a:rPr>
              <a:t>(1/2)</a:t>
            </a:r>
            <a:endParaRPr sz="2400" dirty="0">
              <a:latin typeface="Arial" panose="020B0604020202020204"/>
              <a:cs typeface="Arial" panose="020B0604020202020204"/>
            </a:endParaRPr>
          </a:p>
        </p:txBody>
      </p:sp>
      <p:sp>
        <p:nvSpPr>
          <p:cNvPr id="14" name="object 14"/>
          <p:cNvSpPr/>
          <p:nvPr/>
        </p:nvSpPr>
        <p:spPr>
          <a:xfrm>
            <a:off x="639066" y="265582"/>
            <a:ext cx="0" cy="52705"/>
          </a:xfrm>
          <a:custGeom>
            <a:avLst/>
            <a:gdLst/>
            <a:ahLst/>
            <a:cxnLst/>
            <a:rect l="l" t="t" r="r" b="b"/>
            <a:pathLst>
              <a:path h="52704">
                <a:moveTo>
                  <a:pt x="0" y="0"/>
                </a:moveTo>
                <a:lnTo>
                  <a:pt x="0" y="52231"/>
                </a:lnTo>
              </a:path>
            </a:pathLst>
          </a:custGeom>
          <a:ln w="19815">
            <a:solidFill>
              <a:srgbClr val="000047"/>
            </a:solidFill>
          </a:ln>
        </p:spPr>
        <p:txBody>
          <a:bodyPr wrap="square" lIns="0" tIns="0" rIns="0" bIns="0" rtlCol="0"/>
          <a:lstStyle/>
          <a:p/>
        </p:txBody>
      </p:sp>
      <p:grpSp>
        <p:nvGrpSpPr>
          <p:cNvPr id="15" name="object 15"/>
          <p:cNvGrpSpPr/>
          <p:nvPr/>
        </p:nvGrpSpPr>
        <p:grpSpPr>
          <a:xfrm>
            <a:off x="429458" y="327830"/>
            <a:ext cx="408940" cy="525780"/>
            <a:chOff x="429458" y="327830"/>
            <a:chExt cx="408940" cy="525780"/>
          </a:xfrm>
        </p:grpSpPr>
        <p:sp>
          <p:nvSpPr>
            <p:cNvPr id="16" name="object 16"/>
            <p:cNvSpPr/>
            <p:nvPr/>
          </p:nvSpPr>
          <p:spPr>
            <a:xfrm>
              <a:off x="439374" y="337747"/>
              <a:ext cx="389255" cy="398145"/>
            </a:xfrm>
            <a:custGeom>
              <a:avLst/>
              <a:gdLst/>
              <a:ahLst/>
              <a:cxnLst/>
              <a:rect l="l" t="t" r="r" b="b"/>
              <a:pathLst>
                <a:path w="389255" h="398145">
                  <a:moveTo>
                    <a:pt x="388790" y="0"/>
                  </a:moveTo>
                  <a:lnTo>
                    <a:pt x="351924" y="36930"/>
                  </a:lnTo>
                </a:path>
                <a:path w="389255" h="398145">
                  <a:moveTo>
                    <a:pt x="381235" y="398000"/>
                  </a:moveTo>
                  <a:lnTo>
                    <a:pt x="344452" y="361128"/>
                  </a:lnTo>
                </a:path>
                <a:path w="389255" h="398145">
                  <a:moveTo>
                    <a:pt x="7529" y="0"/>
                  </a:moveTo>
                  <a:lnTo>
                    <a:pt x="44337" y="36930"/>
                  </a:lnTo>
                </a:path>
                <a:path w="389255" h="398145">
                  <a:moveTo>
                    <a:pt x="0" y="398000"/>
                  </a:moveTo>
                  <a:lnTo>
                    <a:pt x="36857" y="361127"/>
                  </a:lnTo>
                </a:path>
                <a:path w="389255" h="398145">
                  <a:moveTo>
                    <a:pt x="199840" y="51280"/>
                  </a:moveTo>
                  <a:lnTo>
                    <a:pt x="195877" y="51280"/>
                  </a:lnTo>
                  <a:lnTo>
                    <a:pt x="245445" y="59141"/>
                  </a:lnTo>
                  <a:lnTo>
                    <a:pt x="286275" y="80420"/>
                  </a:lnTo>
                  <a:lnTo>
                    <a:pt x="317059" y="111662"/>
                  </a:lnTo>
                  <a:lnTo>
                    <a:pt x="336488" y="149411"/>
                  </a:lnTo>
                  <a:lnTo>
                    <a:pt x="343255" y="190214"/>
                  </a:lnTo>
                  <a:lnTo>
                    <a:pt x="334651" y="237814"/>
                  </a:lnTo>
                  <a:lnTo>
                    <a:pt x="314134" y="276880"/>
                  </a:lnTo>
                  <a:lnTo>
                    <a:pt x="289646" y="312596"/>
                  </a:lnTo>
                  <a:lnTo>
                    <a:pt x="269129" y="350149"/>
                  </a:lnTo>
                  <a:lnTo>
                    <a:pt x="260525" y="394725"/>
                  </a:lnTo>
                  <a:lnTo>
                    <a:pt x="128256" y="394724"/>
                  </a:lnTo>
                  <a:lnTo>
                    <a:pt x="119678" y="350106"/>
                  </a:lnTo>
                  <a:lnTo>
                    <a:pt x="99222" y="312500"/>
                  </a:lnTo>
                  <a:lnTo>
                    <a:pt x="74807" y="276748"/>
                  </a:lnTo>
                  <a:lnTo>
                    <a:pt x="54352" y="237689"/>
                  </a:lnTo>
                  <a:lnTo>
                    <a:pt x="45774" y="190164"/>
                  </a:lnTo>
                  <a:lnTo>
                    <a:pt x="52522" y="149377"/>
                  </a:lnTo>
                  <a:lnTo>
                    <a:pt x="71913" y="111621"/>
                  </a:lnTo>
                  <a:lnTo>
                    <a:pt x="102668" y="80363"/>
                  </a:lnTo>
                  <a:lnTo>
                    <a:pt x="143507" y="59066"/>
                  </a:lnTo>
                  <a:lnTo>
                    <a:pt x="193152" y="51198"/>
                  </a:lnTo>
                  <a:lnTo>
                    <a:pt x="189189" y="51198"/>
                  </a:lnTo>
                </a:path>
              </a:pathLst>
            </a:custGeom>
            <a:ln w="19833">
              <a:solidFill>
                <a:srgbClr val="000047"/>
              </a:solidFill>
            </a:ln>
          </p:spPr>
          <p:txBody>
            <a:bodyPr wrap="square" lIns="0" tIns="0" rIns="0" bIns="0" rtlCol="0"/>
            <a:lstStyle/>
            <a:p/>
          </p:txBody>
        </p:sp>
        <p:pic>
          <p:nvPicPr>
            <p:cNvPr id="17" name="object 17"/>
            <p:cNvPicPr/>
            <p:nvPr/>
          </p:nvPicPr>
          <p:blipFill>
            <a:blip r:embed="rId1" cstate="print"/>
            <a:stretch>
              <a:fillRect/>
            </a:stretch>
          </p:blipFill>
          <p:spPr>
            <a:xfrm>
              <a:off x="571990" y="760858"/>
              <a:ext cx="123550" cy="92453"/>
            </a:xfrm>
            <a:prstGeom prst="rect">
              <a:avLst/>
            </a:prstGeom>
          </p:spPr>
        </p:pic>
      </p:grpSp>
      <p:sp>
        <p:nvSpPr>
          <p:cNvPr id="18" name="object 18"/>
          <p:cNvSpPr/>
          <p:nvPr/>
        </p:nvSpPr>
        <p:spPr>
          <a:xfrm>
            <a:off x="861934" y="541013"/>
            <a:ext cx="52705" cy="0"/>
          </a:xfrm>
          <a:custGeom>
            <a:avLst/>
            <a:gdLst/>
            <a:ahLst/>
            <a:cxnLst/>
            <a:rect l="l" t="t" r="r" b="b"/>
            <a:pathLst>
              <a:path w="52705">
                <a:moveTo>
                  <a:pt x="52139" y="0"/>
                </a:moveTo>
                <a:lnTo>
                  <a:pt x="0" y="0"/>
                </a:lnTo>
              </a:path>
            </a:pathLst>
          </a:custGeom>
          <a:ln w="19850">
            <a:solidFill>
              <a:srgbClr val="000047"/>
            </a:solidFill>
          </a:ln>
        </p:spPr>
        <p:txBody>
          <a:bodyPr wrap="square" lIns="0" tIns="0" rIns="0" bIns="0" rtlCol="0"/>
          <a:lstStyle/>
          <a:p/>
        </p:txBody>
      </p:sp>
      <p:sp>
        <p:nvSpPr>
          <p:cNvPr id="19" name="object 19"/>
          <p:cNvSpPr/>
          <p:nvPr/>
        </p:nvSpPr>
        <p:spPr>
          <a:xfrm>
            <a:off x="353474" y="530343"/>
            <a:ext cx="52069" cy="0"/>
          </a:xfrm>
          <a:custGeom>
            <a:avLst/>
            <a:gdLst/>
            <a:ahLst/>
            <a:cxnLst/>
            <a:rect l="l" t="t" r="r" b="b"/>
            <a:pathLst>
              <a:path w="52070">
                <a:moveTo>
                  <a:pt x="0" y="0"/>
                </a:moveTo>
                <a:lnTo>
                  <a:pt x="52065" y="0"/>
                </a:lnTo>
              </a:path>
            </a:pathLst>
          </a:custGeom>
          <a:ln w="19850">
            <a:solidFill>
              <a:srgbClr val="000047"/>
            </a:solidFill>
          </a:ln>
        </p:spPr>
        <p:txBody>
          <a:bodyPr wrap="square" lIns="0" tIns="0" rIns="0" bIns="0" rtlCol="0"/>
          <a:lstStyle/>
          <a:p/>
        </p:txBody>
      </p:sp>
      <p:sp>
        <p:nvSpPr>
          <p:cNvPr id="21" name="object 21"/>
          <p:cNvSpPr txBox="1">
            <a:spLocks noGrp="1"/>
          </p:cNvSpPr>
          <p:nvPr>
            <p:ph type="ftr" sz="quarter" idx="11"/>
          </p:nvPr>
        </p:nvSpPr>
        <p:spPr>
          <a:prstGeom prst="rect">
            <a:avLst/>
          </a:prstGeom>
        </p:spPr>
        <p:txBody>
          <a:bodyPr vert="horz" wrap="square" lIns="0" tIns="3810" rIns="0" bIns="0" rtlCol="0">
            <a:spAutoFit/>
          </a:bodyPr>
          <a:lstStyle/>
          <a:p>
            <a:pPr marL="104140">
              <a:lnSpc>
                <a:spcPct val="100000"/>
              </a:lnSpc>
              <a:spcBef>
                <a:spcPts val="30"/>
              </a:spcBef>
            </a:pPr>
            <a:r>
              <a:rPr dirty="0"/>
              <a:t>©</a:t>
            </a:r>
            <a:r>
              <a:rPr spc="-35" dirty="0"/>
              <a:t> </a:t>
            </a:r>
            <a:r>
              <a:rPr dirty="0"/>
              <a:t>2026–2027 Cognizant</a:t>
            </a:r>
            <a:r>
              <a:rPr spc="-10" dirty="0"/>
              <a:t> </a:t>
            </a:r>
            <a:r>
              <a:rPr dirty="0"/>
              <a:t>|</a:t>
            </a:r>
            <a:r>
              <a:rPr spc="-30" dirty="0"/>
              <a:t> </a:t>
            </a:r>
            <a:r>
              <a:rPr spc="-10" dirty="0"/>
              <a:t>Private</a:t>
            </a:r>
            <a:endParaRPr spc="-10" dirty="0"/>
          </a:p>
        </p:txBody>
      </p:sp>
      <p:sp>
        <p:nvSpPr>
          <p:cNvPr id="22" name="object 22"/>
          <p:cNvSpPr txBox="1">
            <a:spLocks noGrp="1"/>
          </p:cNvSpPr>
          <p:nvPr>
            <p:ph type="sldNum" sz="quarter" idx="12"/>
          </p:nvPr>
        </p:nvSpPr>
        <p:spPr>
          <a:prstGeom prst="rect">
            <a:avLst/>
          </a:prstGeom>
        </p:spPr>
        <p:txBody>
          <a:bodyPr vert="horz" wrap="square" lIns="0" tIns="64769" rIns="0" bIns="0" rtlCol="0">
            <a:spAutoFit/>
          </a:bodyPr>
          <a:lstStyle/>
          <a:p>
            <a:pPr marL="38100">
              <a:lnSpc>
                <a:spcPct val="100000"/>
              </a:lnSpc>
              <a:spcBef>
                <a:spcPts val="30"/>
              </a:spcBef>
            </a:pPr>
            <a:fld id="{81D60167-4931-47E6-BA6A-407CBD079E47}" type="slidenum">
              <a:rPr spc="-50" dirty="0"/>
            </a:fld>
            <a:endParaRPr spc="-50" dirty="0"/>
          </a:p>
        </p:txBody>
      </p:sp>
      <p:sp>
        <p:nvSpPr>
          <p:cNvPr id="4" name="Text Placeholder 3"/>
          <p:cNvSpPr>
            <a:spLocks noGrp="1"/>
          </p:cNvSpPr>
          <p:nvPr>
            <p:ph type="body" idx="1"/>
          </p:nvPr>
        </p:nvSpPr>
        <p:spPr>
          <a:xfrm>
            <a:off x="792493" y="1143000"/>
            <a:ext cx="9819640" cy="7844712"/>
          </a:xfrm>
        </p:spPr>
        <p:txBody>
          <a:bodyPr/>
          <a:lstStyle/>
          <a:p>
            <a:pPr>
              <a:lnSpc>
                <a:spcPct val="150000"/>
              </a:lnSpc>
            </a:pPr>
            <a:r>
              <a:rPr lang="en-IN" sz="1800" b="1" dirty="0">
                <a:solidFill>
                  <a:schemeClr val="tx1"/>
                </a:solidFill>
                <a:latin typeface="Times New Roman" panose="02020603050405020304" charset="0"/>
                <a:cs typeface="Times New Roman" panose="02020603050405020304" charset="0"/>
              </a:rPr>
              <a:t>Market Potential : </a:t>
            </a:r>
            <a:r>
              <a:rPr lang="en-US" sz="1800" dirty="0">
                <a:solidFill>
                  <a:schemeClr val="tx1"/>
                </a:solidFill>
                <a:latin typeface="Times New Roman" panose="02020603050405020304" charset="0"/>
                <a:cs typeface="Times New Roman" panose="02020603050405020304" charset="0"/>
              </a:rPr>
              <a:t>Growing demand for AI-driven healthcare and digital solutions, increasing need for personalized patient engagement, expanding medical EdTech market, and rising demand for real-world data in pharmaceutical research.</a:t>
            </a:r>
            <a:r>
              <a:rPr lang="en-IN" sz="1800" dirty="0">
                <a:solidFill>
                  <a:schemeClr val="tx1"/>
                </a:solidFill>
                <a:latin typeface="Times New Roman" panose="02020603050405020304" charset="0"/>
                <a:cs typeface="Times New Roman" panose="02020603050405020304" charset="0"/>
              </a:rPr>
              <a:t> </a:t>
            </a:r>
            <a:endParaRPr lang="en-IN" sz="1800" dirty="0">
              <a:solidFill>
                <a:schemeClr val="tx1"/>
              </a:solidFill>
              <a:latin typeface="Times New Roman" panose="02020603050405020304" charset="0"/>
              <a:cs typeface="Times New Roman" panose="02020603050405020304" charset="0"/>
            </a:endParaRPr>
          </a:p>
          <a:p>
            <a:pPr>
              <a:lnSpc>
                <a:spcPct val="150000"/>
              </a:lnSpc>
            </a:pPr>
            <a:r>
              <a:rPr lang="en-IN" sz="1800" b="1" dirty="0">
                <a:solidFill>
                  <a:schemeClr val="tx1"/>
                </a:solidFill>
                <a:latin typeface="Times New Roman" panose="02020603050405020304" charset="0"/>
                <a:cs typeface="Times New Roman" panose="02020603050405020304" charset="0"/>
              </a:rPr>
              <a:t>Benefits</a:t>
            </a:r>
            <a:r>
              <a:rPr lang="en-US" sz="1800" b="1" dirty="0">
                <a:solidFill>
                  <a:schemeClr val="tx1"/>
                </a:solidFill>
                <a:latin typeface="Times New Roman" panose="02020603050405020304" charset="0"/>
                <a:cs typeface="Times New Roman" panose="02020603050405020304" charset="0"/>
              </a:rPr>
              <a:t>:</a:t>
            </a:r>
            <a:endParaRPr lang="en-US" sz="1800" b="1" dirty="0">
              <a:solidFill>
                <a:schemeClr val="tx1"/>
              </a:solidFill>
              <a:latin typeface="Times New Roman" panose="02020603050405020304" charset="0"/>
              <a:cs typeface="Times New Roman" panose="02020603050405020304" charset="0"/>
            </a:endParaRPr>
          </a:p>
          <a:p>
            <a:pPr marL="285750" indent="-285750">
              <a:lnSpc>
                <a:spcPct val="150000"/>
              </a:lnSpc>
              <a:buFont typeface="Courier New" panose="02070309020205020404" pitchFamily="49" charset="0"/>
              <a:buChar char="o"/>
            </a:pPr>
            <a:r>
              <a:rPr lang="en-IN" sz="1800" dirty="0">
                <a:solidFill>
                  <a:schemeClr val="tx1"/>
                </a:solidFill>
                <a:latin typeface="Times New Roman" panose="02020603050405020304" charset="0"/>
                <a:cs typeface="Times New Roman" panose="02020603050405020304" charset="0"/>
              </a:rPr>
              <a:t>Simplifies doctor–patient communication.</a:t>
            </a:r>
            <a:endParaRPr lang="en-IN" sz="1800" dirty="0">
              <a:solidFill>
                <a:schemeClr val="tx1"/>
              </a:solidFill>
              <a:latin typeface="Times New Roman" panose="02020603050405020304" charset="0"/>
              <a:cs typeface="Times New Roman" panose="02020603050405020304" charset="0"/>
            </a:endParaRPr>
          </a:p>
          <a:p>
            <a:pPr marL="285750" indent="-285750">
              <a:lnSpc>
                <a:spcPct val="150000"/>
              </a:lnSpc>
              <a:buFont typeface="Courier New" panose="02070309020205020404" pitchFamily="49" charset="0"/>
              <a:buChar char="o"/>
            </a:pPr>
            <a:r>
              <a:rPr lang="en-IN" sz="1800" dirty="0">
                <a:solidFill>
                  <a:schemeClr val="tx1"/>
                </a:solidFill>
                <a:latin typeface="Times New Roman" panose="02020603050405020304" charset="0"/>
                <a:cs typeface="Times New Roman" panose="02020603050405020304" charset="0"/>
              </a:rPr>
              <a:t>Provides affordable real-world case learning for students.</a:t>
            </a:r>
            <a:endParaRPr lang="en-IN" sz="1800" dirty="0">
              <a:solidFill>
                <a:schemeClr val="tx1"/>
              </a:solidFill>
              <a:latin typeface="Times New Roman" panose="02020603050405020304" charset="0"/>
              <a:cs typeface="Times New Roman" panose="02020603050405020304" charset="0"/>
            </a:endParaRPr>
          </a:p>
          <a:p>
            <a:pPr lvl="0">
              <a:lnSpc>
                <a:spcPct val="150000"/>
              </a:lnSpc>
            </a:pPr>
            <a:r>
              <a:rPr lang="en-IN" sz="1800" b="1" dirty="0">
                <a:solidFill>
                  <a:schemeClr val="tx1"/>
                </a:solidFill>
                <a:latin typeface="Times New Roman" panose="02020603050405020304" charset="0"/>
                <a:cs typeface="Times New Roman" panose="02020603050405020304" charset="0"/>
              </a:rPr>
              <a:t>Efficiency &amp; Flexibility : </a:t>
            </a:r>
            <a:r>
              <a:rPr lang="en-IN" sz="1800" dirty="0">
                <a:solidFill>
                  <a:schemeClr val="tx1"/>
                </a:solidFill>
                <a:latin typeface="Times New Roman" panose="02020603050405020304" charset="0"/>
                <a:cs typeface="Times New Roman" panose="02020603050405020304" charset="0"/>
              </a:rPr>
              <a:t>One platform serving multiple stakeholders (doctors, patients, students, scientists). Modular design allows easy expansion of features.</a:t>
            </a:r>
            <a:endParaRPr lang="en-IN" sz="1800" dirty="0">
              <a:solidFill>
                <a:schemeClr val="tx1"/>
              </a:solidFill>
              <a:latin typeface="Times New Roman" panose="02020603050405020304" charset="0"/>
              <a:cs typeface="Times New Roman" panose="02020603050405020304" charset="0"/>
            </a:endParaRPr>
          </a:p>
          <a:p>
            <a:pPr lvl="0">
              <a:lnSpc>
                <a:spcPct val="150000"/>
              </a:lnSpc>
            </a:pPr>
            <a:r>
              <a:rPr lang="en-IN" sz="1800" b="1" dirty="0">
                <a:solidFill>
                  <a:schemeClr val="tx1"/>
                </a:solidFill>
                <a:latin typeface="Times New Roman" panose="02020603050405020304" charset="0"/>
                <a:cs typeface="Times New Roman" panose="02020603050405020304" charset="0"/>
              </a:rPr>
              <a:t>Scalability: </a:t>
            </a:r>
            <a:r>
              <a:rPr lang="en-IN" sz="1800" dirty="0">
                <a:solidFill>
                  <a:schemeClr val="tx1"/>
                </a:solidFill>
                <a:latin typeface="Times New Roman" panose="02020603050405020304" charset="0"/>
                <a:cs typeface="Times New Roman" panose="02020603050405020304" charset="0"/>
              </a:rPr>
              <a:t>Cloud-native architecture ensures seamless scaling. AI-driven modules adaptable to different healthcare institutions.</a:t>
            </a:r>
            <a:endParaRPr lang="en-IN" sz="1800" dirty="0">
              <a:solidFill>
                <a:schemeClr val="tx1"/>
              </a:solidFill>
              <a:latin typeface="Times New Roman" panose="02020603050405020304" charset="0"/>
              <a:cs typeface="Times New Roman" panose="02020603050405020304" charset="0"/>
            </a:endParaRPr>
          </a:p>
          <a:p>
            <a:pPr>
              <a:lnSpc>
                <a:spcPct val="150000"/>
              </a:lnSpc>
            </a:pPr>
            <a:r>
              <a:rPr lang="en-IN" sz="1800" b="1" dirty="0">
                <a:solidFill>
                  <a:schemeClr val="tx1"/>
                </a:solidFill>
                <a:latin typeface="Times New Roman" panose="02020603050405020304" charset="0"/>
                <a:cs typeface="Times New Roman" panose="02020603050405020304" charset="0"/>
              </a:rPr>
              <a:t>Social Impact : </a:t>
            </a:r>
            <a:r>
              <a:rPr lang="en-US" sz="1800" dirty="0">
                <a:solidFill>
                  <a:schemeClr val="tx1"/>
                </a:solidFill>
                <a:latin typeface="Times New Roman" panose="02020603050405020304" charset="0"/>
                <a:cs typeface="Times New Roman" panose="02020603050405020304" charset="0"/>
              </a:rPr>
              <a:t>Democratizes healthcare literacy, enhances student competency with real‑world cases, and accelerates drug discovery through shared anonymized data.</a:t>
            </a:r>
            <a:br>
              <a:rPr lang="en-IN" sz="1800" b="1" dirty="0">
                <a:solidFill>
                  <a:schemeClr val="tx1"/>
                </a:solidFill>
                <a:latin typeface="Times New Roman" panose="02020603050405020304" charset="0"/>
                <a:cs typeface="Times New Roman" panose="02020603050405020304" charset="0"/>
              </a:rPr>
            </a:br>
            <a:endParaRPr lang="en-IN" sz="1800" b="1" dirty="0">
              <a:solidFill>
                <a:schemeClr val="tx1"/>
              </a:solidFill>
              <a:latin typeface="Times New Roman" panose="02020603050405020304" charset="0"/>
              <a:cs typeface="Times New Roman" panose="02020603050405020304" charset="0"/>
            </a:endParaRPr>
          </a:p>
          <a:p>
            <a:pPr lvl="0">
              <a:lnSpc>
                <a:spcPct val="150000"/>
              </a:lnSpc>
            </a:pPr>
            <a:endParaRPr lang="en-IN" sz="1800" dirty="0">
              <a:solidFill>
                <a:schemeClr val="tx1"/>
              </a:solidFill>
              <a:latin typeface="Times New Roman" panose="02020603050405020304" charset="0"/>
              <a:cs typeface="Times New Roman" panose="02020603050405020304" charset="0"/>
            </a:endParaRPr>
          </a:p>
          <a:p>
            <a:pPr lvl="0">
              <a:lnSpc>
                <a:spcPct val="150000"/>
              </a:lnSpc>
            </a:pPr>
            <a:endParaRPr lang="en-IN" sz="1800" dirty="0">
              <a:solidFill>
                <a:schemeClr val="tx1"/>
              </a:solidFill>
              <a:latin typeface="Times New Roman" panose="02020603050405020304" charset="0"/>
              <a:cs typeface="Times New Roman" panose="02020603050405020304" charset="0"/>
            </a:endParaRPr>
          </a:p>
          <a:p>
            <a:pPr lvl="0">
              <a:lnSpc>
                <a:spcPct val="150000"/>
              </a:lnSpc>
            </a:pPr>
            <a:endParaRPr lang="en-IN" sz="1800" dirty="0">
              <a:solidFill>
                <a:schemeClr val="tx1"/>
              </a:solidFill>
              <a:latin typeface="Times New Roman" panose="02020603050405020304" charset="0"/>
              <a:cs typeface="Times New Roman" panose="02020603050405020304" charset="0"/>
            </a:endParaRPr>
          </a:p>
          <a:p>
            <a:pPr>
              <a:lnSpc>
                <a:spcPct val="150000"/>
              </a:lnSpc>
            </a:pPr>
            <a:endParaRPr lang="en-IN" sz="1800" dirty="0">
              <a:solidFill>
                <a:schemeClr val="tx1"/>
              </a:solidFill>
              <a:latin typeface="Times New Roman" panose="02020603050405020304" charset="0"/>
              <a:cs typeface="Times New Roman" panose="02020603050405020304" charset="0"/>
            </a:endParaRPr>
          </a:p>
          <a:p>
            <a:pPr>
              <a:lnSpc>
                <a:spcPct val="150000"/>
              </a:lnSpc>
            </a:pPr>
            <a:endParaRPr lang="en-US" sz="1800" dirty="0">
              <a:solidFill>
                <a:schemeClr val="tx1"/>
              </a:solidFill>
              <a:latin typeface="Times New Roman" panose="02020603050405020304" charset="0"/>
              <a:cs typeface="Times New Roman" panose="02020603050405020304" charset="0"/>
            </a:endParaRPr>
          </a:p>
          <a:p>
            <a:pPr>
              <a:lnSpc>
                <a:spcPct val="150000"/>
              </a:lnSpc>
            </a:pPr>
            <a:endParaRPr lang="en-IN" sz="1800" dirty="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28600" y="1024255"/>
            <a:ext cx="11409045" cy="5417820"/>
          </a:xfrm>
          <a:custGeom>
            <a:avLst/>
            <a:gdLst/>
            <a:ahLst/>
            <a:cxnLst/>
            <a:rect l="l" t="t" r="r" b="b"/>
            <a:pathLst>
              <a:path w="11409045" h="5417820">
                <a:moveTo>
                  <a:pt x="11408791" y="0"/>
                </a:moveTo>
                <a:lnTo>
                  <a:pt x="0" y="0"/>
                </a:lnTo>
                <a:lnTo>
                  <a:pt x="0" y="5417566"/>
                </a:lnTo>
                <a:lnTo>
                  <a:pt x="11408791" y="5417566"/>
                </a:lnTo>
                <a:lnTo>
                  <a:pt x="11408791" y="0"/>
                </a:lnTo>
                <a:close/>
              </a:path>
            </a:pathLst>
          </a:custGeom>
          <a:solidFill>
            <a:srgbClr val="F1F1F1"/>
          </a:solidFill>
        </p:spPr>
        <p:txBody>
          <a:bodyPr wrap="square" lIns="0" tIns="0" rIns="0" bIns="0" rtlCol="0"/>
          <a:lstStyle/>
          <a:p>
            <a:endParaRPr lang="en-US" altLang=""/>
          </a:p>
        </p:txBody>
      </p:sp>
      <p:sp>
        <p:nvSpPr>
          <p:cNvPr id="5" name="object 5"/>
          <p:cNvSpPr txBox="1">
            <a:spLocks noGrp="1"/>
          </p:cNvSpPr>
          <p:nvPr>
            <p:ph type="title"/>
          </p:nvPr>
        </p:nvSpPr>
        <p:spPr>
          <a:prstGeom prst="rect">
            <a:avLst/>
          </a:prstGeom>
        </p:spPr>
        <p:txBody>
          <a:bodyPr vert="horz" wrap="square" lIns="0" tIns="133096" rIns="0" bIns="0" rtlCol="0">
            <a:spAutoFit/>
          </a:bodyPr>
          <a:lstStyle/>
          <a:p>
            <a:pPr marL="300355">
              <a:lnSpc>
                <a:spcPct val="100000"/>
              </a:lnSpc>
              <a:spcBef>
                <a:spcPts val="100"/>
              </a:spcBef>
            </a:pPr>
            <a:r>
              <a:rPr sz="2400" b="1" dirty="0">
                <a:solidFill>
                  <a:srgbClr val="000047"/>
                </a:solidFill>
                <a:latin typeface="Arial" panose="020B0604020202020204"/>
                <a:cs typeface="Arial" panose="020B0604020202020204"/>
              </a:rPr>
              <a:t>Financials</a:t>
            </a:r>
            <a:r>
              <a:rPr sz="2400" b="1" spc="-5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&amp;</a:t>
            </a:r>
            <a:r>
              <a:rPr sz="2400" b="1" spc="-3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Timelines</a:t>
            </a:r>
            <a:r>
              <a:rPr sz="2400" b="1" spc="-5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a:t>
            </a:r>
            <a:r>
              <a:rPr sz="2400" b="1" spc="-3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Business</a:t>
            </a:r>
            <a:r>
              <a:rPr sz="2400" b="1" spc="-30"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Plan</a:t>
            </a:r>
            <a:r>
              <a:rPr sz="2400" b="1" spc="-55" dirty="0">
                <a:solidFill>
                  <a:srgbClr val="000047"/>
                </a:solidFill>
                <a:latin typeface="Arial" panose="020B0604020202020204"/>
                <a:cs typeface="Arial" panose="020B0604020202020204"/>
              </a:rPr>
              <a:t> </a:t>
            </a:r>
            <a:r>
              <a:rPr sz="2400" b="1" spc="-10" dirty="0">
                <a:solidFill>
                  <a:srgbClr val="000047"/>
                </a:solidFill>
                <a:latin typeface="Arial" panose="020B0604020202020204"/>
                <a:cs typeface="Arial" panose="020B0604020202020204"/>
              </a:rPr>
              <a:t>(2/2)</a:t>
            </a:r>
            <a:endParaRPr sz="2400" dirty="0">
              <a:latin typeface="Arial" panose="020B0604020202020204"/>
              <a:cs typeface="Arial" panose="020B0604020202020204"/>
            </a:endParaRPr>
          </a:p>
        </p:txBody>
      </p:sp>
      <p:sp>
        <p:nvSpPr>
          <p:cNvPr id="6" name="object 6"/>
          <p:cNvSpPr txBox="1"/>
          <p:nvPr/>
        </p:nvSpPr>
        <p:spPr>
          <a:xfrm>
            <a:off x="992898" y="1295501"/>
            <a:ext cx="2014220" cy="462280"/>
          </a:xfrm>
          <a:prstGeom prst="rect">
            <a:avLst/>
          </a:prstGeom>
          <a:solidFill>
            <a:srgbClr val="000047"/>
          </a:solidFill>
        </p:spPr>
        <p:txBody>
          <a:bodyPr vert="horz" wrap="square" lIns="0" tIns="38100" rIns="0" bIns="0" rtlCol="0">
            <a:spAutoFit/>
          </a:bodyPr>
          <a:lstStyle/>
          <a:p>
            <a:pPr marL="117475">
              <a:lnSpc>
                <a:spcPct val="100000"/>
              </a:lnSpc>
              <a:spcBef>
                <a:spcPts val="300"/>
              </a:spcBef>
            </a:pPr>
            <a:r>
              <a:rPr sz="2400" b="1" spc="-10" dirty="0">
                <a:solidFill>
                  <a:srgbClr val="FFFFFF"/>
                </a:solidFill>
                <a:latin typeface="Arial" panose="020B0604020202020204"/>
                <a:cs typeface="Arial" panose="020B0604020202020204"/>
              </a:rPr>
              <a:t>Investments</a:t>
            </a:r>
            <a:endParaRPr sz="2400">
              <a:latin typeface="Arial" panose="020B0604020202020204"/>
              <a:cs typeface="Arial" panose="020B0604020202020204"/>
            </a:endParaRPr>
          </a:p>
        </p:txBody>
      </p:sp>
      <p:sp>
        <p:nvSpPr>
          <p:cNvPr id="8" name="object 8"/>
          <p:cNvSpPr txBox="1"/>
          <p:nvPr/>
        </p:nvSpPr>
        <p:spPr>
          <a:xfrm>
            <a:off x="993139" y="3962120"/>
            <a:ext cx="2014220" cy="462280"/>
          </a:xfrm>
          <a:prstGeom prst="rect">
            <a:avLst/>
          </a:prstGeom>
          <a:solidFill>
            <a:srgbClr val="000047"/>
          </a:solidFill>
        </p:spPr>
        <p:txBody>
          <a:bodyPr vert="horz" wrap="square" lIns="0" tIns="38735" rIns="0" bIns="0" rtlCol="0">
            <a:spAutoFit/>
          </a:bodyPr>
          <a:lstStyle/>
          <a:p>
            <a:pPr marL="432435">
              <a:lnSpc>
                <a:spcPct val="100000"/>
              </a:lnSpc>
              <a:spcBef>
                <a:spcPts val="305"/>
              </a:spcBef>
            </a:pPr>
            <a:r>
              <a:rPr sz="2400" b="1" spc="-10" dirty="0">
                <a:solidFill>
                  <a:srgbClr val="FFFFFF"/>
                </a:solidFill>
                <a:latin typeface="Arial" panose="020B0604020202020204"/>
                <a:cs typeface="Arial" panose="020B0604020202020204"/>
              </a:rPr>
              <a:t>Returns</a:t>
            </a:r>
            <a:endParaRPr sz="2400">
              <a:latin typeface="Arial" panose="020B0604020202020204"/>
              <a:cs typeface="Arial" panose="020B0604020202020204"/>
            </a:endParaRPr>
          </a:p>
        </p:txBody>
      </p:sp>
      <p:pic>
        <p:nvPicPr>
          <p:cNvPr id="13" name="object 13"/>
          <p:cNvPicPr/>
          <p:nvPr/>
        </p:nvPicPr>
        <p:blipFill>
          <a:blip r:embed="rId1" cstate="print"/>
          <a:stretch>
            <a:fillRect/>
          </a:stretch>
        </p:blipFill>
        <p:spPr>
          <a:xfrm>
            <a:off x="366941" y="318058"/>
            <a:ext cx="473963" cy="473913"/>
          </a:xfrm>
          <a:prstGeom prst="rect">
            <a:avLst/>
          </a:prstGeom>
        </p:spPr>
      </p:pic>
      <p:sp>
        <p:nvSpPr>
          <p:cNvPr id="14" name="object 14"/>
          <p:cNvSpPr txBox="1">
            <a:spLocks noGrp="1"/>
          </p:cNvSpPr>
          <p:nvPr>
            <p:ph type="ftr" sz="quarter" idx="5"/>
          </p:nvPr>
        </p:nvSpPr>
        <p:spPr>
          <a:prstGeom prst="rect">
            <a:avLst/>
          </a:prstGeom>
        </p:spPr>
        <p:txBody>
          <a:bodyPr vert="horz" wrap="square" lIns="0" tIns="3810" rIns="0" bIns="0" rtlCol="0">
            <a:spAutoFit/>
          </a:bodyPr>
          <a:lstStyle/>
          <a:p>
            <a:pPr marL="104140">
              <a:lnSpc>
                <a:spcPct val="100000"/>
              </a:lnSpc>
              <a:spcBef>
                <a:spcPts val="30"/>
              </a:spcBef>
            </a:pPr>
            <a:r>
              <a:rPr dirty="0"/>
              <a:t>©</a:t>
            </a:r>
            <a:r>
              <a:rPr spc="-35" dirty="0"/>
              <a:t> </a:t>
            </a:r>
            <a:r>
              <a:rPr dirty="0"/>
              <a:t>2026–2027 Cognizant</a:t>
            </a:r>
            <a:r>
              <a:rPr spc="-10" dirty="0"/>
              <a:t> </a:t>
            </a:r>
            <a:r>
              <a:rPr dirty="0"/>
              <a:t>|</a:t>
            </a:r>
            <a:r>
              <a:rPr spc="-30" dirty="0"/>
              <a:t> </a:t>
            </a:r>
            <a:r>
              <a:rPr spc="-10" dirty="0"/>
              <a:t>Private</a:t>
            </a:r>
            <a:endParaRPr spc="-10" dirty="0"/>
          </a:p>
        </p:txBody>
      </p:sp>
      <p:sp>
        <p:nvSpPr>
          <p:cNvPr id="15" name="object 15"/>
          <p:cNvSpPr txBox="1">
            <a:spLocks noGrp="1"/>
          </p:cNvSpPr>
          <p:nvPr>
            <p:ph type="sldNum" sz="quarter" idx="7"/>
          </p:nvPr>
        </p:nvSpPr>
        <p:spPr>
          <a:prstGeom prst="rect">
            <a:avLst/>
          </a:prstGeom>
        </p:spPr>
        <p:txBody>
          <a:bodyPr vert="horz" wrap="square" lIns="0" tIns="64769" rIns="0" bIns="0" rtlCol="0">
            <a:spAutoFit/>
          </a:bodyPr>
          <a:lstStyle/>
          <a:p>
            <a:pPr marL="38100">
              <a:lnSpc>
                <a:spcPct val="100000"/>
              </a:lnSpc>
              <a:spcBef>
                <a:spcPts val="30"/>
              </a:spcBef>
            </a:pPr>
            <a:fld id="{81D60167-4931-47E6-BA6A-407CBD079E47}" type="slidenum">
              <a:rPr spc="-50" dirty="0"/>
            </a:fld>
            <a:endParaRPr spc="-50" dirty="0"/>
          </a:p>
        </p:txBody>
      </p:sp>
      <p:sp>
        <p:nvSpPr>
          <p:cNvPr id="17" name="Text Box 16"/>
          <p:cNvSpPr txBox="1"/>
          <p:nvPr/>
        </p:nvSpPr>
        <p:spPr>
          <a:xfrm>
            <a:off x="3255010" y="1219200"/>
            <a:ext cx="7849870" cy="2299970"/>
          </a:xfrm>
          <a:prstGeom prst="rect">
            <a:avLst/>
          </a:prstGeom>
          <a:noFill/>
        </p:spPr>
        <p:txBody>
          <a:bodyPr wrap="square" rtlCol="0">
            <a:noAutofit/>
          </a:bodyPr>
          <a:p>
            <a:pPr>
              <a:lnSpc>
                <a:spcPct val="110000"/>
              </a:lnSpc>
            </a:pPr>
            <a:r>
              <a:rPr lang="zh-CN" altLang="en-US"/>
              <a:t>💰</a:t>
            </a:r>
            <a:r>
              <a:rPr lang="en-US" altLang="zh-CN"/>
              <a:t>  </a:t>
            </a:r>
            <a:r>
              <a:rPr lang="en-US" altLang="en-US" sz="1600">
                <a:latin typeface="Times New Roman" panose="02020603050405020304" charset="0"/>
                <a:cs typeface="Times New Roman" panose="02020603050405020304" charset="0"/>
              </a:rPr>
              <a:t>Overall Investment: ₹80 Lakhs – ₹1.6 Crore (~$100K – $200K) for first 12–18 months</a:t>
            </a:r>
            <a:endParaRPr lang="en-US" altLang="en-US" sz="1600">
              <a:latin typeface="Times New Roman" panose="02020603050405020304" charset="0"/>
              <a:cs typeface="Times New Roman" panose="02020603050405020304" charset="0"/>
            </a:endParaRPr>
          </a:p>
          <a:p>
            <a:pPr>
              <a:lnSpc>
                <a:spcPct val="110000"/>
              </a:lnSpc>
            </a:pPr>
            <a:r>
              <a:rPr lang="zh-CN" altLang="en-US" sz="1600">
                <a:latin typeface="Times New Roman" panose="02020603050405020304" charset="0"/>
                <a:cs typeface="Times New Roman" panose="02020603050405020304" charset="0"/>
              </a:rPr>
              <a:t>🧩</a:t>
            </a:r>
            <a:r>
              <a:rPr lang="en-US" altLang="zh-CN" sz="1600">
                <a:latin typeface="Times New Roman" panose="02020603050405020304" charset="0"/>
                <a:cs typeface="Times New Roman" panose="02020603050405020304" charset="0"/>
              </a:rPr>
              <a:t>   </a:t>
            </a:r>
            <a:r>
              <a:rPr lang="en-US" altLang="en-US" sz="1600">
                <a:latin typeface="Times New Roman" panose="02020603050405020304" charset="0"/>
                <a:cs typeface="Times New Roman" panose="02020603050405020304" charset="0"/>
              </a:rPr>
              <a:t>Cost Breakdown:</a:t>
            </a:r>
            <a:endParaRPr lang="en-US" altLang="en-US" sz="1600">
              <a:latin typeface="Times New Roman" panose="02020603050405020304" charset="0"/>
              <a:cs typeface="Times New Roman" panose="02020603050405020304" charset="0"/>
            </a:endParaRPr>
          </a:p>
          <a:p>
            <a:pPr lvl="1">
              <a:lnSpc>
                <a:spcPct val="110000"/>
              </a:lnSpc>
            </a:pPr>
            <a:r>
              <a:rPr lang="en-US" altLang="en-US" sz="1600">
                <a:latin typeface="Times New Roman" panose="02020603050405020304" charset="0"/>
                <a:cs typeface="Times New Roman" panose="02020603050405020304" charset="0"/>
              </a:rPr>
              <a:t> </a:t>
            </a:r>
            <a:r>
              <a:rPr lang="zh-CN" altLang="en-US" sz="1600">
                <a:latin typeface="Times New Roman" panose="02020603050405020304" charset="0"/>
                <a:cs typeface="Times New Roman" panose="02020603050405020304" charset="0"/>
              </a:rPr>
              <a:t>☁</a:t>
            </a:r>
            <a:r>
              <a:rPr lang="en-US" altLang="zh-CN" sz="1600">
                <a:latin typeface="Times New Roman" panose="02020603050405020304" charset="0"/>
                <a:cs typeface="Times New Roman" panose="02020603050405020304" charset="0"/>
              </a:rPr>
              <a:t>   </a:t>
            </a:r>
            <a:r>
              <a:rPr lang="en-US" altLang="en-US" sz="1600">
                <a:latin typeface="Times New Roman" panose="02020603050405020304" charset="0"/>
                <a:cs typeface="Times New Roman" panose="02020603050405020304" charset="0"/>
              </a:rPr>
              <a:t>1. Cloud &amp; Infrastructure (20–25%)	</a:t>
            </a:r>
            <a:r>
              <a:rPr lang="zh-CN" altLang="en-US" sz="1600">
                <a:latin typeface="Times New Roman" panose="02020603050405020304" charset="0"/>
                <a:cs typeface="Times New Roman" panose="02020603050405020304" charset="0"/>
              </a:rPr>
              <a:t>💸</a:t>
            </a:r>
            <a:r>
              <a:rPr lang="en-US" altLang="en-US" sz="1600">
                <a:latin typeface="Times New Roman" panose="02020603050405020304" charset="0"/>
                <a:cs typeface="Times New Roman" panose="02020603050405020304" charset="0"/>
              </a:rPr>
              <a:t> ₹15L – ₹30L</a:t>
            </a:r>
            <a:endParaRPr lang="en-US" altLang="en-US" sz="1600">
              <a:latin typeface="Times New Roman" panose="02020603050405020304" charset="0"/>
              <a:cs typeface="Times New Roman" panose="02020603050405020304" charset="0"/>
            </a:endParaRPr>
          </a:p>
          <a:p>
            <a:pPr lvl="1">
              <a:lnSpc>
                <a:spcPct val="110000"/>
              </a:lnSpc>
            </a:pPr>
            <a:r>
              <a:rPr lang="zh-CN" altLang="en-US" sz="1600">
                <a:latin typeface="Times New Roman" panose="02020603050405020304" charset="0"/>
                <a:cs typeface="Times New Roman" panose="02020603050405020304" charset="0"/>
              </a:rPr>
              <a:t>🤖</a:t>
            </a:r>
            <a:r>
              <a:rPr lang="en-US" altLang="zh-CN" sz="1600">
                <a:latin typeface="Times New Roman" panose="02020603050405020304" charset="0"/>
                <a:cs typeface="Times New Roman" panose="02020603050405020304" charset="0"/>
              </a:rPr>
              <a:t>    </a:t>
            </a:r>
            <a:r>
              <a:rPr lang="en-US" altLang="en-US" sz="1600">
                <a:latin typeface="Times New Roman" panose="02020603050405020304" charset="0"/>
                <a:cs typeface="Times New Roman" panose="02020603050405020304" charset="0"/>
              </a:rPr>
              <a:t>2. AI Development (15–20%)	</a:t>
            </a:r>
            <a:r>
              <a:rPr lang="zh-CN" altLang="en-US" sz="1600">
                <a:latin typeface="Times New Roman" panose="02020603050405020304" charset="0"/>
                <a:cs typeface="Times New Roman" panose="02020603050405020304" charset="0"/>
              </a:rPr>
              <a:t>💸</a:t>
            </a:r>
            <a:r>
              <a:rPr lang="en-US" altLang="en-US" sz="1600">
                <a:latin typeface="Times New Roman" panose="02020603050405020304" charset="0"/>
                <a:cs typeface="Times New Roman" panose="02020603050405020304" charset="0"/>
              </a:rPr>
              <a:t> ₹12L – ₹25L  </a:t>
            </a:r>
            <a:endParaRPr lang="en-US" altLang="en-US" sz="1600">
              <a:latin typeface="Times New Roman" panose="02020603050405020304" charset="0"/>
              <a:cs typeface="Times New Roman" panose="02020603050405020304" charset="0"/>
            </a:endParaRPr>
          </a:p>
          <a:p>
            <a:pPr lvl="1">
              <a:lnSpc>
                <a:spcPct val="110000"/>
              </a:lnSpc>
            </a:pPr>
            <a:r>
              <a:rPr lang="zh-CN" altLang="en-US" sz="1600">
                <a:latin typeface="Times New Roman" panose="02020603050405020304" charset="0"/>
                <a:cs typeface="Times New Roman" panose="02020603050405020304" charset="0"/>
              </a:rPr>
              <a:t>💻</a:t>
            </a:r>
            <a:r>
              <a:rPr lang="en-US" altLang="zh-CN" sz="1600">
                <a:latin typeface="Times New Roman" panose="02020603050405020304" charset="0"/>
                <a:cs typeface="Times New Roman" panose="02020603050405020304" charset="0"/>
              </a:rPr>
              <a:t>    </a:t>
            </a:r>
            <a:r>
              <a:rPr lang="en-US" altLang="en-US" sz="1600">
                <a:latin typeface="Times New Roman" panose="02020603050405020304" charset="0"/>
                <a:cs typeface="Times New Roman" panose="02020603050405020304" charset="0"/>
              </a:rPr>
              <a:t>3. Development Team (30–40%) 	</a:t>
            </a:r>
            <a:r>
              <a:rPr lang="zh-CN" altLang="en-US" sz="1600">
                <a:latin typeface="Times New Roman" panose="02020603050405020304" charset="0"/>
                <a:cs typeface="Times New Roman" panose="02020603050405020304" charset="0"/>
              </a:rPr>
              <a:t>💸</a:t>
            </a:r>
            <a:r>
              <a:rPr lang="en-US" altLang="en-US" sz="1600">
                <a:latin typeface="Times New Roman" panose="02020603050405020304" charset="0"/>
                <a:cs typeface="Times New Roman" panose="02020603050405020304" charset="0"/>
              </a:rPr>
              <a:t> ₹25L – ₹60L</a:t>
            </a:r>
            <a:endParaRPr lang="en-US" altLang="en-US" sz="1600">
              <a:latin typeface="Times New Roman" panose="02020603050405020304" charset="0"/>
              <a:cs typeface="Times New Roman" panose="02020603050405020304" charset="0"/>
            </a:endParaRPr>
          </a:p>
          <a:p>
            <a:pPr lvl="1">
              <a:lnSpc>
                <a:spcPct val="110000"/>
              </a:lnSpc>
            </a:pPr>
            <a:r>
              <a:rPr lang="zh-CN" altLang="en-US" sz="1600">
                <a:latin typeface="Times New Roman" panose="02020603050405020304" charset="0"/>
                <a:cs typeface="Times New Roman" panose="02020603050405020304" charset="0"/>
              </a:rPr>
              <a:t>⚖</a:t>
            </a:r>
            <a:r>
              <a:rPr lang="en-US" altLang="zh-CN" sz="1600">
                <a:latin typeface="Times New Roman" panose="02020603050405020304" charset="0"/>
                <a:cs typeface="Times New Roman" panose="02020603050405020304" charset="0"/>
              </a:rPr>
              <a:t>   </a:t>
            </a:r>
            <a:r>
              <a:rPr lang="en-US" altLang="en-US" sz="1600">
                <a:latin typeface="Times New Roman" panose="02020603050405020304" charset="0"/>
                <a:cs typeface="Times New Roman" panose="02020603050405020304" charset="0"/>
              </a:rPr>
              <a:t> 4. Legal &amp; Compliance (10–15%) 	</a:t>
            </a:r>
            <a:r>
              <a:rPr lang="zh-CN" altLang="en-US" sz="1600">
                <a:latin typeface="Times New Roman" panose="02020603050405020304" charset="0"/>
                <a:cs typeface="Times New Roman" panose="02020603050405020304" charset="0"/>
              </a:rPr>
              <a:t>💸</a:t>
            </a:r>
            <a:r>
              <a:rPr lang="en-US" altLang="en-US" sz="1600">
                <a:latin typeface="Times New Roman" panose="02020603050405020304" charset="0"/>
                <a:cs typeface="Times New Roman" panose="02020603050405020304" charset="0"/>
              </a:rPr>
              <a:t> ₹8L – ₹20L</a:t>
            </a:r>
            <a:endParaRPr lang="en-US" altLang="en-US" sz="1600">
              <a:latin typeface="Times New Roman" panose="02020603050405020304" charset="0"/>
              <a:cs typeface="Times New Roman" panose="02020603050405020304" charset="0"/>
            </a:endParaRPr>
          </a:p>
          <a:p>
            <a:pPr lvl="1">
              <a:lnSpc>
                <a:spcPct val="110000"/>
              </a:lnSpc>
            </a:pPr>
            <a:r>
              <a:rPr lang="zh-CN" altLang="en-US" sz="1600">
                <a:latin typeface="Times New Roman" panose="02020603050405020304" charset="0"/>
                <a:cs typeface="Times New Roman" panose="02020603050405020304" charset="0"/>
              </a:rPr>
              <a:t>🤝</a:t>
            </a:r>
            <a:r>
              <a:rPr lang="en-US" altLang="en-US" sz="1600">
                <a:latin typeface="Times New Roman" panose="02020603050405020304" charset="0"/>
                <a:cs typeface="Times New Roman" panose="02020603050405020304" charset="0"/>
              </a:rPr>
              <a:t>    5. Partnerships &amp; Sales (10–15%) 	</a:t>
            </a:r>
            <a:r>
              <a:rPr lang="zh-CN" altLang="en-US" sz="1600">
                <a:latin typeface="Times New Roman" panose="02020603050405020304" charset="0"/>
                <a:cs typeface="Times New Roman" panose="02020603050405020304" charset="0"/>
              </a:rPr>
              <a:t>💸</a:t>
            </a:r>
            <a:r>
              <a:rPr lang="en-US" altLang="en-US" sz="1600">
                <a:latin typeface="Times New Roman" panose="02020603050405020304" charset="0"/>
                <a:cs typeface="Times New Roman" panose="02020603050405020304" charset="0"/>
              </a:rPr>
              <a:t> ₹8L – ₹20L</a:t>
            </a:r>
            <a:endParaRPr lang="en-US" altLang="en-US" sz="1600">
              <a:latin typeface="Times New Roman" panose="02020603050405020304" charset="0"/>
              <a:cs typeface="Times New Roman" panose="02020603050405020304" charset="0"/>
            </a:endParaRPr>
          </a:p>
          <a:p>
            <a:pPr lvl="1">
              <a:lnSpc>
                <a:spcPct val="110000"/>
              </a:lnSpc>
            </a:pPr>
            <a:r>
              <a:rPr lang="zh-CN" altLang="en-US" sz="1600">
                <a:latin typeface="Times New Roman" panose="02020603050405020304" charset="0"/>
                <a:cs typeface="Times New Roman" panose="02020603050405020304" charset="0"/>
              </a:rPr>
              <a:t>🧪</a:t>
            </a:r>
            <a:r>
              <a:rPr lang="en-US" altLang="zh-CN" sz="1600">
                <a:latin typeface="Times New Roman" panose="02020603050405020304" charset="0"/>
                <a:cs typeface="Times New Roman" panose="02020603050405020304" charset="0"/>
              </a:rPr>
              <a:t>   </a:t>
            </a:r>
            <a:r>
              <a:rPr lang="en-US" altLang="en-US" sz="1600">
                <a:latin typeface="Times New Roman" panose="02020603050405020304" charset="0"/>
                <a:cs typeface="Times New Roman" panose="02020603050405020304" charset="0"/>
              </a:rPr>
              <a:t> 6. Testing &amp; Deployment (5–10%) 	</a:t>
            </a:r>
            <a:r>
              <a:rPr lang="zh-CN" altLang="en-US" sz="1600">
                <a:latin typeface="Times New Roman" panose="02020603050405020304" charset="0"/>
                <a:cs typeface="Times New Roman" panose="02020603050405020304" charset="0"/>
              </a:rPr>
              <a:t>💸</a:t>
            </a:r>
            <a:r>
              <a:rPr lang="en-US" altLang="en-US" sz="1600">
                <a:latin typeface="Times New Roman" panose="02020603050405020304" charset="0"/>
                <a:cs typeface="Times New Roman" panose="02020603050405020304" charset="0"/>
              </a:rPr>
              <a:t> ₹5L – ₹10L</a:t>
            </a:r>
            <a:endParaRPr lang="en-US" altLang="en-US" sz="1600">
              <a:latin typeface="Times New Roman" panose="02020603050405020304" charset="0"/>
              <a:cs typeface="Times New Roman" panose="02020603050405020304" charset="0"/>
            </a:endParaRPr>
          </a:p>
          <a:p>
            <a:endParaRPr lang="en-US" altLang="en-US" sz="1600">
              <a:latin typeface="Times New Roman" panose="02020603050405020304" charset="0"/>
              <a:cs typeface="Times New Roman" panose="02020603050405020304" charset="0"/>
            </a:endParaRPr>
          </a:p>
          <a:p>
            <a:endParaRPr lang="en-US" altLang="en-US" sz="1600">
              <a:latin typeface="Times New Roman" panose="02020603050405020304" charset="0"/>
              <a:cs typeface="Times New Roman" panose="02020603050405020304" charset="0"/>
            </a:endParaRPr>
          </a:p>
          <a:p>
            <a:endParaRPr lang="en-US" altLang="en-US" sz="1600">
              <a:latin typeface="Times New Roman" panose="02020603050405020304" charset="0"/>
              <a:cs typeface="Times New Roman" panose="02020603050405020304" charset="0"/>
            </a:endParaRPr>
          </a:p>
        </p:txBody>
      </p:sp>
      <p:sp>
        <p:nvSpPr>
          <p:cNvPr id="18" name="Text Box 17"/>
          <p:cNvSpPr txBox="1"/>
          <p:nvPr/>
        </p:nvSpPr>
        <p:spPr>
          <a:xfrm>
            <a:off x="3166745" y="3856355"/>
            <a:ext cx="8113395" cy="1720215"/>
          </a:xfrm>
          <a:prstGeom prst="rect">
            <a:avLst/>
          </a:prstGeom>
          <a:noFill/>
        </p:spPr>
        <p:txBody>
          <a:bodyPr wrap="square" rtlCol="0">
            <a:noAutofit/>
          </a:bodyPr>
          <a:p>
            <a:pPr>
              <a:lnSpc>
                <a:spcPct val="110000"/>
              </a:lnSpc>
            </a:pPr>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Overall Returns: </a:t>
            </a:r>
            <a:r>
              <a:rPr lang="zh-CN" altLang="en-US">
                <a:latin typeface="Times New Roman" panose="02020603050405020304" charset="0"/>
                <a:cs typeface="Times New Roman" panose="02020603050405020304" charset="0"/>
              </a:rPr>
              <a:t>📈</a:t>
            </a:r>
            <a:r>
              <a:rPr lang="en-US" altLang="en-US">
                <a:latin typeface="Times New Roman" panose="02020603050405020304" charset="0"/>
                <a:cs typeface="Times New Roman" panose="02020603050405020304" charset="0"/>
              </a:rPr>
              <a:t> Growth Projection</a:t>
            </a:r>
            <a:endParaRPr lang="en-US" altLang="en-US">
              <a:latin typeface="Times New Roman" panose="02020603050405020304" charset="0"/>
              <a:cs typeface="Times New Roman" panose="02020603050405020304" charset="0"/>
            </a:endParaRPr>
          </a:p>
          <a:p>
            <a:pPr>
              <a:lnSpc>
                <a:spcPct val="110000"/>
              </a:lnSpc>
            </a:pPr>
            <a:r>
              <a:rPr lang="en-US" altLang="en-US">
                <a:latin typeface="Times New Roman" panose="02020603050405020304" charset="0"/>
                <a:cs typeface="Times New Roman" panose="02020603050405020304" charset="0"/>
              </a:rPr>
              <a:t>Year 1: 5–10 hospitals,  2,000+ students          	</a:t>
            </a:r>
            <a:r>
              <a:rPr lang="zh-CN" altLang="en-US">
                <a:latin typeface="Times New Roman" panose="02020603050405020304" charset="0"/>
                <a:cs typeface="Times New Roman" panose="02020603050405020304" charset="0"/>
              </a:rPr>
              <a:t>👉</a:t>
            </a:r>
            <a:r>
              <a:rPr lang="en-US" altLang="en-US">
                <a:latin typeface="Times New Roman" panose="02020603050405020304" charset="0"/>
                <a:cs typeface="Times New Roman" panose="02020603050405020304" charset="0"/>
              </a:rPr>
              <a:t> Revenue: ₹40L – ₹80L</a:t>
            </a:r>
            <a:endParaRPr lang="en-US" altLang="en-US">
              <a:latin typeface="Times New Roman" panose="02020603050405020304" charset="0"/>
              <a:cs typeface="Times New Roman" panose="02020603050405020304" charset="0"/>
            </a:endParaRPr>
          </a:p>
          <a:p>
            <a:pPr>
              <a:lnSpc>
                <a:spcPct val="110000"/>
              </a:lnSpc>
            </a:pPr>
            <a:r>
              <a:rPr lang="en-US" altLang="en-US">
                <a:latin typeface="Times New Roman" panose="02020603050405020304" charset="0"/>
                <a:cs typeface="Times New Roman" panose="02020603050405020304" charset="0"/>
              </a:rPr>
              <a:t>Year 2: 30+ hospitals, 10,000+ users                     </a:t>
            </a:r>
            <a:r>
              <a:rPr lang="zh-CN" altLang="en-US">
                <a:latin typeface="Times New Roman" panose="02020603050405020304" charset="0"/>
                <a:cs typeface="Times New Roman" panose="02020603050405020304" charset="0"/>
              </a:rPr>
              <a:t>👉</a:t>
            </a:r>
            <a:r>
              <a:rPr lang="en-US" altLang="en-US">
                <a:latin typeface="Times New Roman" panose="02020603050405020304" charset="0"/>
                <a:cs typeface="Times New Roman" panose="02020603050405020304" charset="0"/>
              </a:rPr>
              <a:t> Revenue: ₹3Cr – ₹6Cr</a:t>
            </a:r>
            <a:endParaRPr lang="en-US" altLang="en-US">
              <a:latin typeface="Times New Roman" panose="02020603050405020304" charset="0"/>
              <a:cs typeface="Times New Roman" panose="02020603050405020304" charset="0"/>
            </a:endParaRPr>
          </a:p>
          <a:p>
            <a:pPr>
              <a:lnSpc>
                <a:spcPct val="110000"/>
              </a:lnSpc>
            </a:pPr>
            <a:r>
              <a:rPr lang="en-US" altLang="en-US">
                <a:latin typeface="Times New Roman" panose="02020603050405020304" charset="0"/>
                <a:cs typeface="Times New Roman" panose="02020603050405020304" charset="0"/>
              </a:rPr>
              <a:t>Year 3: 100+ hospitals, research access added 	</a:t>
            </a:r>
            <a:r>
              <a:rPr lang="zh-CN" altLang="en-US">
                <a:latin typeface="Times New Roman" panose="02020603050405020304" charset="0"/>
                <a:cs typeface="Times New Roman" panose="02020603050405020304" charset="0"/>
              </a:rPr>
              <a:t>👉</a:t>
            </a:r>
            <a:r>
              <a:rPr lang="en-US" altLang="en-US">
                <a:latin typeface="Times New Roman" panose="02020603050405020304" charset="0"/>
                <a:cs typeface="Times New Roman" panose="02020603050405020304" charset="0"/>
              </a:rPr>
              <a:t> Revenue: ₹15Cr+		             </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28600" y="1024255"/>
            <a:ext cx="11409045" cy="5417820"/>
          </a:xfrm>
          <a:custGeom>
            <a:avLst/>
            <a:gdLst/>
            <a:ahLst/>
            <a:cxnLst/>
            <a:rect l="l" t="t" r="r" b="b"/>
            <a:pathLst>
              <a:path w="11409045" h="5417820">
                <a:moveTo>
                  <a:pt x="11408791" y="0"/>
                </a:moveTo>
                <a:lnTo>
                  <a:pt x="0" y="0"/>
                </a:lnTo>
                <a:lnTo>
                  <a:pt x="0" y="5417566"/>
                </a:lnTo>
                <a:lnTo>
                  <a:pt x="11408791" y="5417566"/>
                </a:lnTo>
                <a:lnTo>
                  <a:pt x="11408791" y="0"/>
                </a:lnTo>
                <a:close/>
              </a:path>
            </a:pathLst>
          </a:custGeom>
          <a:solidFill>
            <a:srgbClr val="F1F1F1"/>
          </a:solidFill>
        </p:spPr>
        <p:txBody>
          <a:bodyPr wrap="square" lIns="0" tIns="0" rIns="0" bIns="0" rtlCol="0"/>
          <a:lstStyle/>
          <a:p>
            <a:endParaRPr lang="en-US" altLang="en-US"/>
          </a:p>
        </p:txBody>
      </p:sp>
      <p:sp>
        <p:nvSpPr>
          <p:cNvPr id="5" name="object 5"/>
          <p:cNvSpPr txBox="1">
            <a:spLocks noGrp="1"/>
          </p:cNvSpPr>
          <p:nvPr>
            <p:ph type="title"/>
          </p:nvPr>
        </p:nvSpPr>
        <p:spPr>
          <a:prstGeom prst="rect">
            <a:avLst/>
          </a:prstGeom>
        </p:spPr>
        <p:txBody>
          <a:bodyPr vert="horz" wrap="square" lIns="0" tIns="133096" rIns="0" bIns="0" rtlCol="0">
            <a:spAutoFit/>
          </a:bodyPr>
          <a:lstStyle/>
          <a:p>
            <a:pPr marL="300355">
              <a:lnSpc>
                <a:spcPct val="100000"/>
              </a:lnSpc>
              <a:spcBef>
                <a:spcPts val="100"/>
              </a:spcBef>
            </a:pPr>
            <a:r>
              <a:rPr sz="2400" b="1" dirty="0">
                <a:solidFill>
                  <a:srgbClr val="000047"/>
                </a:solidFill>
                <a:latin typeface="Arial" panose="020B0604020202020204"/>
                <a:cs typeface="Arial" panose="020B0604020202020204"/>
              </a:rPr>
              <a:t>Financials</a:t>
            </a:r>
            <a:r>
              <a:rPr sz="2400" b="1" spc="-5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&amp;</a:t>
            </a:r>
            <a:r>
              <a:rPr sz="2400" b="1" spc="-3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Timelines</a:t>
            </a:r>
            <a:r>
              <a:rPr sz="2400" b="1" spc="-5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a:t>
            </a:r>
            <a:r>
              <a:rPr sz="2400" b="1" spc="-3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Business</a:t>
            </a:r>
            <a:r>
              <a:rPr sz="2400" b="1" spc="-30"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Plan</a:t>
            </a:r>
            <a:r>
              <a:rPr sz="2400" b="1" spc="-55" dirty="0">
                <a:solidFill>
                  <a:srgbClr val="000047"/>
                </a:solidFill>
                <a:latin typeface="Arial" panose="020B0604020202020204"/>
                <a:cs typeface="Arial" panose="020B0604020202020204"/>
              </a:rPr>
              <a:t> </a:t>
            </a:r>
            <a:r>
              <a:rPr sz="2400" b="1" spc="-10" dirty="0">
                <a:solidFill>
                  <a:srgbClr val="000047"/>
                </a:solidFill>
                <a:latin typeface="Arial" panose="020B0604020202020204"/>
                <a:cs typeface="Arial" panose="020B0604020202020204"/>
              </a:rPr>
              <a:t>(2/2)</a:t>
            </a:r>
            <a:endParaRPr sz="2400" dirty="0">
              <a:latin typeface="Arial" panose="020B0604020202020204"/>
              <a:cs typeface="Arial" panose="020B0604020202020204"/>
            </a:endParaRPr>
          </a:p>
        </p:txBody>
      </p:sp>
      <p:sp>
        <p:nvSpPr>
          <p:cNvPr id="10" name="object 10"/>
          <p:cNvSpPr txBox="1"/>
          <p:nvPr/>
        </p:nvSpPr>
        <p:spPr>
          <a:xfrm>
            <a:off x="567448" y="1448028"/>
            <a:ext cx="2014220" cy="462280"/>
          </a:xfrm>
          <a:prstGeom prst="rect">
            <a:avLst/>
          </a:prstGeom>
          <a:solidFill>
            <a:srgbClr val="000047"/>
          </a:solidFill>
        </p:spPr>
        <p:txBody>
          <a:bodyPr vert="horz" wrap="square" lIns="0" tIns="38735" rIns="0" bIns="0" rtlCol="0">
            <a:spAutoFit/>
          </a:bodyPr>
          <a:lstStyle/>
          <a:p>
            <a:pPr marL="306705">
              <a:lnSpc>
                <a:spcPct val="100000"/>
              </a:lnSpc>
              <a:spcBef>
                <a:spcPts val="305"/>
              </a:spcBef>
            </a:pPr>
            <a:r>
              <a:rPr sz="2400" b="1" spc="-10" dirty="0">
                <a:solidFill>
                  <a:srgbClr val="FFFFFF"/>
                </a:solidFill>
                <a:latin typeface="Arial" panose="020B0604020202020204"/>
                <a:cs typeface="Arial" panose="020B0604020202020204"/>
              </a:rPr>
              <a:t>Timelines</a:t>
            </a:r>
            <a:endParaRPr sz="2400">
              <a:latin typeface="Arial" panose="020B0604020202020204"/>
              <a:cs typeface="Arial" panose="020B0604020202020204"/>
            </a:endParaRPr>
          </a:p>
        </p:txBody>
      </p:sp>
      <p:pic>
        <p:nvPicPr>
          <p:cNvPr id="13" name="object 13"/>
          <p:cNvPicPr/>
          <p:nvPr/>
        </p:nvPicPr>
        <p:blipFill>
          <a:blip r:embed="rId1" cstate="print"/>
          <a:stretch>
            <a:fillRect/>
          </a:stretch>
        </p:blipFill>
        <p:spPr>
          <a:xfrm>
            <a:off x="366941" y="318058"/>
            <a:ext cx="473963" cy="473913"/>
          </a:xfrm>
          <a:prstGeom prst="rect">
            <a:avLst/>
          </a:prstGeom>
        </p:spPr>
      </p:pic>
      <p:sp>
        <p:nvSpPr>
          <p:cNvPr id="14" name="object 14"/>
          <p:cNvSpPr txBox="1">
            <a:spLocks noGrp="1"/>
          </p:cNvSpPr>
          <p:nvPr>
            <p:ph type="ftr" sz="quarter" idx="5"/>
          </p:nvPr>
        </p:nvSpPr>
        <p:spPr>
          <a:prstGeom prst="rect">
            <a:avLst/>
          </a:prstGeom>
        </p:spPr>
        <p:txBody>
          <a:bodyPr vert="horz" wrap="square" lIns="0" tIns="3810" rIns="0" bIns="0" rtlCol="0">
            <a:spAutoFit/>
          </a:bodyPr>
          <a:lstStyle/>
          <a:p>
            <a:pPr marL="104140">
              <a:lnSpc>
                <a:spcPct val="100000"/>
              </a:lnSpc>
              <a:spcBef>
                <a:spcPts val="30"/>
              </a:spcBef>
            </a:pPr>
            <a:r>
              <a:rPr dirty="0"/>
              <a:t>©</a:t>
            </a:r>
            <a:r>
              <a:rPr spc="-35" dirty="0"/>
              <a:t> </a:t>
            </a:r>
            <a:r>
              <a:rPr dirty="0"/>
              <a:t>2026–2027 Cognizant</a:t>
            </a:r>
            <a:r>
              <a:rPr spc="-10" dirty="0"/>
              <a:t> </a:t>
            </a:r>
            <a:r>
              <a:rPr dirty="0"/>
              <a:t>|</a:t>
            </a:r>
            <a:r>
              <a:rPr spc="-30" dirty="0"/>
              <a:t> </a:t>
            </a:r>
            <a:r>
              <a:rPr spc="-10" dirty="0"/>
              <a:t>Private</a:t>
            </a:r>
            <a:endParaRPr spc="-10" dirty="0"/>
          </a:p>
        </p:txBody>
      </p:sp>
      <p:sp>
        <p:nvSpPr>
          <p:cNvPr id="15" name="object 15"/>
          <p:cNvSpPr txBox="1">
            <a:spLocks noGrp="1"/>
          </p:cNvSpPr>
          <p:nvPr>
            <p:ph type="sldNum" sz="quarter" idx="7"/>
          </p:nvPr>
        </p:nvSpPr>
        <p:spPr>
          <a:prstGeom prst="rect">
            <a:avLst/>
          </a:prstGeom>
        </p:spPr>
        <p:txBody>
          <a:bodyPr vert="horz" wrap="square" lIns="0" tIns="64769" rIns="0" bIns="0" rtlCol="0">
            <a:spAutoFit/>
          </a:bodyPr>
          <a:lstStyle/>
          <a:p>
            <a:pPr marL="38100">
              <a:lnSpc>
                <a:spcPct val="100000"/>
              </a:lnSpc>
              <a:spcBef>
                <a:spcPts val="30"/>
              </a:spcBef>
            </a:pPr>
            <a:fld id="{81D60167-4931-47E6-BA6A-407CBD079E47}" type="slidenum">
              <a:rPr spc="-50" dirty="0"/>
            </a:fld>
            <a:endParaRPr spc="-50" dirty="0"/>
          </a:p>
        </p:txBody>
      </p:sp>
      <p:sp>
        <p:nvSpPr>
          <p:cNvPr id="18" name="Text Box 17"/>
          <p:cNvSpPr txBox="1"/>
          <p:nvPr/>
        </p:nvSpPr>
        <p:spPr>
          <a:xfrm>
            <a:off x="567055" y="2168525"/>
            <a:ext cx="10941685" cy="4010660"/>
          </a:xfrm>
          <a:prstGeom prst="rect">
            <a:avLst/>
          </a:prstGeom>
          <a:noFill/>
        </p:spPr>
        <p:txBody>
          <a:bodyPr wrap="square" rtlCol="0">
            <a:noAutofit/>
          </a:bodyPr>
          <a:p>
            <a:pPr>
              <a:lnSpc>
                <a:spcPct val="110000"/>
              </a:lnSpc>
            </a:pPr>
            <a:r>
              <a:rPr lang="en-US" altLang="en-US">
                <a:latin typeface="Times New Roman" panose="02020603050405020304" charset="0"/>
                <a:cs typeface="Times New Roman" panose="02020603050405020304" charset="0"/>
              </a:rPr>
              <a:t>  ⏳ Overall Project Timeline:</a:t>
            </a:r>
            <a:endParaRPr lang="en-US" altLang="en-US">
              <a:latin typeface="Times New Roman" panose="02020603050405020304" charset="0"/>
              <a:cs typeface="Times New Roman" panose="02020603050405020304" charset="0"/>
            </a:endParaRPr>
          </a:p>
          <a:p>
            <a:pPr algn="just">
              <a:lnSpc>
                <a:spcPct val="130000"/>
              </a:lnSpc>
            </a:pPr>
            <a:r>
              <a:rPr lang="en-US" altLang="en-US" b="1">
                <a:latin typeface="Times New Roman" panose="02020603050405020304" charset="0"/>
                <a:cs typeface="Times New Roman" panose="02020603050405020304" charset="0"/>
              </a:rPr>
              <a:t>  Phase 1</a:t>
            </a:r>
            <a:r>
              <a:rPr lang="en-US" altLang="en-US">
                <a:latin typeface="Times New Roman" panose="02020603050405020304" charset="0"/>
                <a:cs typeface="Times New Roman" panose="02020603050405020304" charset="0"/>
              </a:rPr>
              <a:t>: Planning &amp; MVP Development (Month 1–3)</a:t>
            </a:r>
            <a:r>
              <a:rPr lang="en-US" altLang="en-US">
                <a:latin typeface="Times New Roman" panose="02020603050405020304" charset="0"/>
                <a:cs typeface="Times New Roman" panose="02020603050405020304" charset="0"/>
              </a:rPr>
              <a:t>	</a:t>
            </a:r>
            <a:endParaRPr lang="en-US" altLang="en-US">
              <a:latin typeface="Times New Roman" panose="02020603050405020304" charset="0"/>
              <a:cs typeface="Times New Roman" panose="02020603050405020304" charset="0"/>
            </a:endParaRPr>
          </a:p>
          <a:p>
            <a:pPr marL="742950" lvl="1" indent="-285750" algn="just">
              <a:lnSpc>
                <a:spcPct val="130000"/>
              </a:lnSpc>
              <a:buFont typeface="Arial" panose="020B0604020202020204" pitchFamily="34" charset="0"/>
              <a:buChar char="•"/>
            </a:pPr>
            <a:r>
              <a:rPr lang="en-US" altLang="en-US">
                <a:latin typeface="Times New Roman" panose="02020603050405020304" charset="0"/>
                <a:cs typeface="Times New Roman" panose="02020603050405020304" charset="0"/>
              </a:rPr>
              <a:t>Tasks: Finalize features, Setup backend &amp; database, Build frontend, Integrate AI.</a:t>
            </a:r>
            <a:endParaRPr lang="en-US" altLang="en-US">
              <a:latin typeface="Times New Roman" panose="02020603050405020304" charset="0"/>
              <a:cs typeface="Times New Roman" panose="02020603050405020304" charset="0"/>
            </a:endParaRPr>
          </a:p>
          <a:p>
            <a:pPr algn="just">
              <a:lnSpc>
                <a:spcPct val="130000"/>
              </a:lnSpc>
            </a:pPr>
            <a:r>
              <a:rPr lang="en-US" altLang="en-US" b="1">
                <a:latin typeface="Times New Roman" panose="02020603050405020304" charset="0"/>
                <a:cs typeface="Times New Roman" panose="02020603050405020304" charset="0"/>
              </a:rPr>
              <a:t>  Phase 2</a:t>
            </a:r>
            <a:r>
              <a:rPr lang="en-US" altLang="en-US">
                <a:latin typeface="Times New Roman" panose="02020603050405020304" charset="0"/>
                <a:cs typeface="Times New Roman" panose="02020603050405020304" charset="0"/>
              </a:rPr>
              <a:t>: Testing &amp; Pilot (Month 4–5)</a:t>
            </a:r>
            <a:endParaRPr lang="en-US" altLang="en-US">
              <a:latin typeface="Times New Roman" panose="02020603050405020304" charset="0"/>
              <a:cs typeface="Times New Roman" panose="02020603050405020304" charset="0"/>
            </a:endParaRPr>
          </a:p>
          <a:p>
            <a:pPr marL="742950" lvl="1" indent="-285750" algn="just">
              <a:lnSpc>
                <a:spcPct val="130000"/>
              </a:lnSpc>
              <a:buFont typeface="Arial" panose="020B0604020202020204" pitchFamily="34" charset="0"/>
              <a:buChar char="•"/>
            </a:pPr>
            <a:r>
              <a:rPr lang="en-US" altLang="en-US">
                <a:latin typeface="Times New Roman" panose="02020603050405020304" charset="0"/>
                <a:cs typeface="Times New Roman" panose="02020603050405020304" charset="0"/>
              </a:rPr>
              <a:t>Tasks: Pilot testing, Feedback collection, AI improvement, Bug fixing.</a:t>
            </a:r>
            <a:endParaRPr lang="en-US" altLang="en-US">
              <a:latin typeface="Times New Roman" panose="02020603050405020304" charset="0"/>
              <a:cs typeface="Times New Roman" panose="02020603050405020304" charset="0"/>
            </a:endParaRPr>
          </a:p>
          <a:p>
            <a:pPr algn="just">
              <a:lnSpc>
                <a:spcPct val="130000"/>
              </a:lnSpc>
            </a:pPr>
            <a:r>
              <a:rPr lang="en-US" altLang="en-US" b="1">
                <a:latin typeface="Times New Roman" panose="02020603050405020304" charset="0"/>
                <a:cs typeface="Times New Roman" panose="02020603050405020304" charset="0"/>
              </a:rPr>
              <a:t>  Phase 3</a:t>
            </a:r>
            <a:r>
              <a:rPr lang="en-US" altLang="en-US">
                <a:latin typeface="Times New Roman" panose="02020603050405020304" charset="0"/>
                <a:cs typeface="Times New Roman" panose="02020603050405020304" charset="0"/>
              </a:rPr>
              <a:t>: Hospital Integration (Month 6–8)</a:t>
            </a:r>
            <a:endParaRPr lang="en-US" altLang="en-US">
              <a:latin typeface="Times New Roman" panose="02020603050405020304" charset="0"/>
              <a:cs typeface="Times New Roman" panose="02020603050405020304" charset="0"/>
            </a:endParaRPr>
          </a:p>
          <a:p>
            <a:pPr marL="742950" lvl="1" indent="-285750" algn="just">
              <a:lnSpc>
                <a:spcPct val="130000"/>
              </a:lnSpc>
              <a:buFont typeface="Arial" panose="020B0604020202020204" pitchFamily="34" charset="0"/>
              <a:buChar char="•"/>
            </a:pPr>
            <a:r>
              <a:rPr lang="en-US" altLang="en-US">
                <a:latin typeface="Times New Roman" panose="02020603050405020304" charset="0"/>
                <a:cs typeface="Times New Roman" panose="02020603050405020304" charset="0"/>
              </a:rPr>
              <a:t>Tasks: Patient digital health wallet, Implement access control, Security &amp; Privacy, Start onboarding doctors.</a:t>
            </a:r>
            <a:endParaRPr lang="en-US" altLang="en-US">
              <a:latin typeface="Times New Roman" panose="02020603050405020304" charset="0"/>
              <a:cs typeface="Times New Roman" panose="02020603050405020304" charset="0"/>
            </a:endParaRPr>
          </a:p>
          <a:p>
            <a:pPr algn="just">
              <a:lnSpc>
                <a:spcPct val="130000"/>
              </a:lnSpc>
            </a:pPr>
            <a:r>
              <a:rPr lang="en-US" altLang="en-US">
                <a:latin typeface="Times New Roman" panose="02020603050405020304" charset="0"/>
                <a:cs typeface="Times New Roman" panose="02020603050405020304" charset="0"/>
              </a:rPr>
              <a:t>  </a:t>
            </a:r>
            <a:r>
              <a:rPr lang="en-US" altLang="en-US" b="1">
                <a:latin typeface="Times New Roman" panose="02020603050405020304" charset="0"/>
                <a:cs typeface="Times New Roman" panose="02020603050405020304" charset="0"/>
              </a:rPr>
              <a:t>Phase 4</a:t>
            </a:r>
            <a:r>
              <a:rPr lang="en-US" altLang="en-US">
                <a:latin typeface="Times New Roman" panose="02020603050405020304" charset="0"/>
                <a:cs typeface="Times New Roman" panose="02020603050405020304" charset="0"/>
              </a:rPr>
              <a:t>: Scaling &amp; Monetization (Month 9–10)</a:t>
            </a:r>
            <a:endParaRPr lang="en-US" altLang="en-US">
              <a:latin typeface="Times New Roman" panose="02020603050405020304" charset="0"/>
              <a:cs typeface="Times New Roman" panose="02020603050405020304" charset="0"/>
            </a:endParaRPr>
          </a:p>
          <a:p>
            <a:pPr marL="742950" lvl="1" indent="-285750" algn="just">
              <a:lnSpc>
                <a:spcPct val="130000"/>
              </a:lnSpc>
              <a:buFont typeface="Arial" panose="020B0604020202020204" pitchFamily="34" charset="0"/>
              <a:buChar char="•"/>
            </a:pPr>
            <a:r>
              <a:rPr lang="en-US" altLang="en-US">
                <a:latin typeface="Times New Roman" panose="02020603050405020304" charset="0"/>
                <a:cs typeface="Times New Roman" panose="02020603050405020304" charset="0"/>
              </a:rPr>
              <a:t>Tasks: Launch subscription plans, Expand to multiple hospitals, Improve performance &amp; scalability, Add       	analytics dashboard.</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902200" y="-3"/>
            <a:ext cx="7289800" cy="6858000"/>
          </a:xfrm>
          <a:prstGeom prst="rect">
            <a:avLst/>
          </a:prstGeom>
        </p:spPr>
      </p:pic>
      <p:pic>
        <p:nvPicPr>
          <p:cNvPr id="3" name="object 3"/>
          <p:cNvPicPr/>
          <p:nvPr/>
        </p:nvPicPr>
        <p:blipFill>
          <a:blip r:embed="rId2" cstate="print"/>
          <a:stretch>
            <a:fillRect/>
          </a:stretch>
        </p:blipFill>
        <p:spPr>
          <a:xfrm>
            <a:off x="627138" y="536701"/>
            <a:ext cx="1770888" cy="310896"/>
          </a:xfrm>
          <a:prstGeom prst="rect">
            <a:avLst/>
          </a:prstGeom>
        </p:spPr>
      </p:pic>
      <p:sp>
        <p:nvSpPr>
          <p:cNvPr id="4" name="object 4"/>
          <p:cNvSpPr txBox="1">
            <a:spLocks noGrp="1"/>
          </p:cNvSpPr>
          <p:nvPr>
            <p:ph type="title"/>
          </p:nvPr>
        </p:nvSpPr>
        <p:spPr>
          <a:xfrm>
            <a:off x="993139" y="3092907"/>
            <a:ext cx="3837304" cy="940435"/>
          </a:xfrm>
          <a:prstGeom prst="rect">
            <a:avLst/>
          </a:prstGeom>
        </p:spPr>
        <p:txBody>
          <a:bodyPr vert="horz" wrap="square" lIns="0" tIns="12700" rIns="0" bIns="0" rtlCol="0">
            <a:spAutoFit/>
          </a:bodyPr>
          <a:lstStyle/>
          <a:p>
            <a:pPr marL="12700">
              <a:lnSpc>
                <a:spcPct val="100000"/>
              </a:lnSpc>
              <a:spcBef>
                <a:spcPts val="100"/>
              </a:spcBef>
            </a:pPr>
            <a:r>
              <a:rPr sz="6000" b="1" dirty="0">
                <a:solidFill>
                  <a:srgbClr val="000047"/>
                </a:solidFill>
                <a:latin typeface="Arial" panose="020B0604020202020204"/>
                <a:cs typeface="Arial" panose="020B0604020202020204"/>
              </a:rPr>
              <a:t>Thank</a:t>
            </a:r>
            <a:r>
              <a:rPr sz="6000" b="1" spc="-20" dirty="0">
                <a:solidFill>
                  <a:srgbClr val="000047"/>
                </a:solidFill>
                <a:latin typeface="Arial" panose="020B0604020202020204"/>
                <a:cs typeface="Arial" panose="020B0604020202020204"/>
              </a:rPr>
              <a:t> </a:t>
            </a:r>
            <a:r>
              <a:rPr sz="6000" b="1" spc="-25" dirty="0">
                <a:solidFill>
                  <a:srgbClr val="000047"/>
                </a:solidFill>
                <a:latin typeface="Arial" panose="020B0604020202020204"/>
                <a:cs typeface="Arial" panose="020B0604020202020204"/>
              </a:rPr>
              <a:t>you</a:t>
            </a:r>
            <a:endParaRPr sz="6000">
              <a:latin typeface="Arial" panose="020B0604020202020204"/>
              <a:cs typeface="Arial" panose="020B0604020202020204"/>
            </a:endParaRPr>
          </a:p>
        </p:txBody>
      </p:sp>
      <p:sp>
        <p:nvSpPr>
          <p:cNvPr id="5" name="object 5"/>
          <p:cNvSpPr txBox="1">
            <a:spLocks noGrp="1"/>
          </p:cNvSpPr>
          <p:nvPr>
            <p:ph type="sldNum" sz="quarter" idx="7"/>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fld>
            <a:endParaRPr spc="-25" dirty="0"/>
          </a:p>
        </p:txBody>
      </p:sp>
      <p:sp>
        <p:nvSpPr>
          <p:cNvPr id="6" name="object 6"/>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dirty="0"/>
              <a:t>©</a:t>
            </a:r>
            <a:r>
              <a:rPr spc="-35" dirty="0"/>
              <a:t> </a:t>
            </a:r>
            <a:r>
              <a:rPr dirty="0"/>
              <a:t>2026–2027 Cognizant</a:t>
            </a:r>
            <a:r>
              <a:rPr spc="-10" dirty="0"/>
              <a:t> </a:t>
            </a:r>
            <a:r>
              <a:rPr dirty="0"/>
              <a:t>|</a:t>
            </a:r>
            <a:r>
              <a:rPr spc="-30" dirty="0"/>
              <a:t> </a:t>
            </a:r>
            <a:r>
              <a:rPr spc="-10" dirty="0"/>
              <a:t>Private</a:t>
            </a:r>
            <a:endParaRPr spc="-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5644</Words>
  <Application>WPS Presentation</Application>
  <PresentationFormat>Widescreen</PresentationFormat>
  <Paragraphs>125</Paragraphs>
  <Slides>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vt:i4>
      </vt:variant>
    </vt:vector>
  </HeadingPairs>
  <TitlesOfParts>
    <vt:vector size="20" baseType="lpstr">
      <vt:lpstr>Arial</vt:lpstr>
      <vt:lpstr>SimSun</vt:lpstr>
      <vt:lpstr>Wingdings</vt:lpstr>
      <vt:lpstr>Arial MT</vt:lpstr>
      <vt:lpstr>Arial</vt:lpstr>
      <vt:lpstr>Times New Roman</vt:lpstr>
      <vt:lpstr>Courier New</vt:lpstr>
      <vt:lpstr>Microsoft YaHei</vt:lpstr>
      <vt:lpstr>Arial Unicode MS</vt:lpstr>
      <vt:lpstr>Calibri</vt:lpstr>
      <vt:lpstr>Office Theme</vt:lpstr>
      <vt:lpstr>PowerPoint 演示文稿</vt:lpstr>
      <vt:lpstr>Idea submission guidelines</vt:lpstr>
      <vt:lpstr>PowerPoint 演示文稿</vt:lpstr>
      <vt:lpstr>PowerPoint 演示文稿</vt:lpstr>
      <vt:lpstr>PowerPoint 演示文稿</vt:lpstr>
      <vt:lpstr>PowerPoint 演示文稿</vt:lpstr>
      <vt:lpstr>Financials &amp; Timelines | Business Plan (2/2)</vt:lpstr>
      <vt:lpstr>Financials &amp; Timelines | Business Plan (2/2)</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WELCOME</dc:creator>
  <cp:lastModifiedBy>Srinivas Srinivas</cp:lastModifiedBy>
  <cp:revision>5</cp:revision>
  <dcterms:created xsi:type="dcterms:W3CDTF">2026-04-11T15:31:00Z</dcterms:created>
  <dcterms:modified xsi:type="dcterms:W3CDTF">2026-04-12T07:37:00Z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2026-04-04T11:00:00Z</vt:filetime>
  </property>
  <property fmtid="{D5CDD505-2E9C-101B-9397-08002B2CF9AE}" pid="3" name="Creator">
    <vt:lpwstr>Microsoft® PowerPoint® for Microsoft 365</vt:lpwstr>
  </property>
  <property fmtid="{D5CDD505-2E9C-101B-9397-08002B2CF9AE}" pid="4" name="LastSaved">
    <vt:filetime>2026-04-11T11:00:00Z</vt:filetime>
  </property>
  <property fmtid="{D5CDD505-2E9C-101B-9397-08002B2CF9AE}" pid="5" name="Producer">
    <vt:lpwstr>Microsoft® PowerPoint® for Microsoft 365</vt:lpwstr>
  </property>
  <property fmtid="{D5CDD505-2E9C-101B-9397-08002B2CF9AE}" pid="6" name="ICV">
    <vt:lpwstr>82856BCA697E4D80AA9369427072CD61_13</vt:lpwstr>
  </property>
  <property fmtid="{D5CDD505-2E9C-101B-9397-08002B2CF9AE}" pid="7" name="KSOProductBuildVer">
    <vt:lpwstr>1033-12.1.0.25242</vt:lpwstr>
  </property>
</Properties>
</file>